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12192000"/>
  <p:notesSz cx="6797675" cy="992662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25">
          <p15:clr>
            <a:srgbClr val="A4A3A4"/>
          </p15:clr>
        </p15:guide>
        <p15:guide id="2" pos="1209">
          <p15:clr>
            <a:srgbClr val="A4A3A4"/>
          </p15:clr>
        </p15:guide>
        <p15:guide id="3" pos="2955">
          <p15:clr>
            <a:srgbClr val="A4A3A4"/>
          </p15:clr>
        </p15:guide>
        <p15:guide id="4" pos="2071">
          <p15:clr>
            <a:srgbClr val="A4A3A4"/>
          </p15:clr>
        </p15:guide>
        <p15:guide id="5" pos="3840">
          <p15:clr>
            <a:srgbClr val="A4A3A4"/>
          </p15:clr>
        </p15:guide>
        <p15:guide id="6" pos="4702">
          <p15:clr>
            <a:srgbClr val="A4A3A4"/>
          </p15:clr>
        </p15:guide>
        <p15:guide id="7" pos="5586">
          <p15:clr>
            <a:srgbClr val="A4A3A4"/>
          </p15:clr>
        </p15:guide>
        <p15:guide id="8" pos="7333">
          <p15:clr>
            <a:srgbClr val="A4A3A4"/>
          </p15:clr>
        </p15:guide>
        <p15:guide id="9" orient="horz" pos="3952">
          <p15:clr>
            <a:srgbClr val="A4A3A4"/>
          </p15:clr>
        </p15:guide>
        <p15:guide id="10" pos="6471">
          <p15:clr>
            <a:srgbClr val="A4A3A4"/>
          </p15:clr>
        </p15:guide>
        <p15:guide id="11" orient="horz" pos="913">
          <p15:clr>
            <a:srgbClr val="A4A3A4"/>
          </p15:clr>
        </p15:guide>
      </p15:sldGuideLst>
    </p:ext>
    <p:ext uri="{2D200454-40CA-4A62-9FC3-DE9A4176ACB9}">
      <p15:notesGuideLst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  <p:ext uri="GoogleSlidesCustomDataVersion2">
      <go:slidesCustomData xmlns:go="http://customooxmlschemas.google.com/" r:id="rId22" roundtripDataSignature="AMtx7mgQ+Sk4kOEXp0CdZK+bQedgIsSM9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E336434-E499-460B-B266-F0CFA8544F62}">
  <a:tblStyle styleId="{9E336434-E499-460B-B266-F0CFA8544F6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25"/>
        <p:guide pos="1209"/>
        <p:guide pos="2955"/>
        <p:guide pos="2071"/>
        <p:guide pos="3840"/>
        <p:guide pos="4702"/>
        <p:guide pos="5586"/>
        <p:guide pos="7333"/>
        <p:guide pos="3952" orient="horz"/>
        <p:guide pos="6471"/>
        <p:guide pos="913" orient="horz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3127" orient="horz"/>
        <p:guide pos="2141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customschemas.google.com/relationships/presentationmetadata" Target="metadata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45659" cy="498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50443" y="0"/>
            <a:ext cx="2945659" cy="498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:notes"/>
          <p:cNvSpPr txBox="1"/>
          <p:nvPr>
            <p:ph idx="1" type="body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1" name="Google Shape;181;p1:notes"/>
          <p:cNvSpPr/>
          <p:nvPr>
            <p:ph idx="2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:notes"/>
          <p:cNvSpPr txBox="1"/>
          <p:nvPr>
            <p:ph idx="1" type="body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0" name="Google Shape;190;p2:notes"/>
          <p:cNvSpPr/>
          <p:nvPr>
            <p:ph idx="2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e13f270040_0_4:notes"/>
          <p:cNvSpPr/>
          <p:nvPr>
            <p:ph idx="2" type="sldImg"/>
          </p:nvPr>
        </p:nvSpPr>
        <p:spPr>
          <a:xfrm>
            <a:off x="422275" y="1241425"/>
            <a:ext cx="5953200" cy="334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e13f270040_0_4:notes"/>
          <p:cNvSpPr txBox="1"/>
          <p:nvPr>
            <p:ph idx="1" type="body"/>
          </p:nvPr>
        </p:nvSpPr>
        <p:spPr>
          <a:xfrm>
            <a:off x="679768" y="4777194"/>
            <a:ext cx="5438100" cy="3908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3e13f270040_0_4:notes"/>
          <p:cNvSpPr txBox="1"/>
          <p:nvPr>
            <p:ph idx="12" type="sldNum"/>
          </p:nvPr>
        </p:nvSpPr>
        <p:spPr>
          <a:xfrm>
            <a:off x="3850443" y="9428584"/>
            <a:ext cx="2945700" cy="498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e13f270040_0_14:notes"/>
          <p:cNvSpPr/>
          <p:nvPr>
            <p:ph idx="2" type="sldImg"/>
          </p:nvPr>
        </p:nvSpPr>
        <p:spPr>
          <a:xfrm>
            <a:off x="422275" y="1241425"/>
            <a:ext cx="5953200" cy="334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e13f270040_0_14:notes"/>
          <p:cNvSpPr txBox="1"/>
          <p:nvPr>
            <p:ph idx="1" type="body"/>
          </p:nvPr>
        </p:nvSpPr>
        <p:spPr>
          <a:xfrm>
            <a:off x="679768" y="4777194"/>
            <a:ext cx="5438100" cy="3908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g3e13f270040_0_14:notes"/>
          <p:cNvSpPr txBox="1"/>
          <p:nvPr>
            <p:ph idx="12" type="sldNum"/>
          </p:nvPr>
        </p:nvSpPr>
        <p:spPr>
          <a:xfrm>
            <a:off x="3850443" y="9428584"/>
            <a:ext cx="2945700" cy="498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e13f270040_0_32:notes"/>
          <p:cNvSpPr/>
          <p:nvPr>
            <p:ph idx="2" type="sldImg"/>
          </p:nvPr>
        </p:nvSpPr>
        <p:spPr>
          <a:xfrm>
            <a:off x="422275" y="1241425"/>
            <a:ext cx="5953200" cy="334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e13f270040_0_32:notes"/>
          <p:cNvSpPr txBox="1"/>
          <p:nvPr>
            <p:ph idx="1" type="body"/>
          </p:nvPr>
        </p:nvSpPr>
        <p:spPr>
          <a:xfrm>
            <a:off x="679768" y="4777194"/>
            <a:ext cx="5438100" cy="3908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3e13f270040_0_32:notes"/>
          <p:cNvSpPr txBox="1"/>
          <p:nvPr>
            <p:ph idx="12" type="sldNum"/>
          </p:nvPr>
        </p:nvSpPr>
        <p:spPr>
          <a:xfrm>
            <a:off x="3850443" y="9428584"/>
            <a:ext cx="2945700" cy="498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e13f270040_0_45:notes"/>
          <p:cNvSpPr/>
          <p:nvPr>
            <p:ph idx="2" type="sldImg"/>
          </p:nvPr>
        </p:nvSpPr>
        <p:spPr>
          <a:xfrm>
            <a:off x="422275" y="1241425"/>
            <a:ext cx="5953200" cy="334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e13f270040_0_45:notes"/>
          <p:cNvSpPr txBox="1"/>
          <p:nvPr>
            <p:ph idx="1" type="body"/>
          </p:nvPr>
        </p:nvSpPr>
        <p:spPr>
          <a:xfrm>
            <a:off x="679768" y="4777194"/>
            <a:ext cx="5438100" cy="3908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g3e13f270040_0_45:notes"/>
          <p:cNvSpPr txBox="1"/>
          <p:nvPr>
            <p:ph idx="12" type="sldNum"/>
          </p:nvPr>
        </p:nvSpPr>
        <p:spPr>
          <a:xfrm>
            <a:off x="3850443" y="9428584"/>
            <a:ext cx="2945700" cy="498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e13f270040_0_58:notes"/>
          <p:cNvSpPr/>
          <p:nvPr>
            <p:ph idx="2" type="sldImg"/>
          </p:nvPr>
        </p:nvSpPr>
        <p:spPr>
          <a:xfrm>
            <a:off x="422275" y="1241425"/>
            <a:ext cx="5953200" cy="334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e13f270040_0_58:notes"/>
          <p:cNvSpPr txBox="1"/>
          <p:nvPr>
            <p:ph idx="1" type="body"/>
          </p:nvPr>
        </p:nvSpPr>
        <p:spPr>
          <a:xfrm>
            <a:off x="679768" y="4777194"/>
            <a:ext cx="5438100" cy="3908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3e13f270040_0_58:notes"/>
          <p:cNvSpPr txBox="1"/>
          <p:nvPr>
            <p:ph idx="12" type="sldNum"/>
          </p:nvPr>
        </p:nvSpPr>
        <p:spPr>
          <a:xfrm>
            <a:off x="3850443" y="9428584"/>
            <a:ext cx="2945700" cy="498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e13f270040_0_70:notes"/>
          <p:cNvSpPr/>
          <p:nvPr>
            <p:ph idx="2" type="sldImg"/>
          </p:nvPr>
        </p:nvSpPr>
        <p:spPr>
          <a:xfrm>
            <a:off x="422275" y="1241425"/>
            <a:ext cx="5953200" cy="334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e13f270040_0_70:notes"/>
          <p:cNvSpPr txBox="1"/>
          <p:nvPr>
            <p:ph idx="1" type="body"/>
          </p:nvPr>
        </p:nvSpPr>
        <p:spPr>
          <a:xfrm>
            <a:off x="679768" y="4777194"/>
            <a:ext cx="5438100" cy="3908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g3e13f270040_0_70:notes"/>
          <p:cNvSpPr txBox="1"/>
          <p:nvPr>
            <p:ph idx="12" type="sldNum"/>
          </p:nvPr>
        </p:nvSpPr>
        <p:spPr>
          <a:xfrm>
            <a:off x="3850443" y="9428584"/>
            <a:ext cx="2945700" cy="498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e13f270040_0_82:notes"/>
          <p:cNvSpPr/>
          <p:nvPr>
            <p:ph idx="2" type="sldImg"/>
          </p:nvPr>
        </p:nvSpPr>
        <p:spPr>
          <a:xfrm>
            <a:off x="422275" y="1241425"/>
            <a:ext cx="5953200" cy="334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e13f270040_0_82:notes"/>
          <p:cNvSpPr txBox="1"/>
          <p:nvPr>
            <p:ph idx="1" type="body"/>
          </p:nvPr>
        </p:nvSpPr>
        <p:spPr>
          <a:xfrm>
            <a:off x="679768" y="4777194"/>
            <a:ext cx="5438100" cy="3908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g3e13f270040_0_82:notes"/>
          <p:cNvSpPr txBox="1"/>
          <p:nvPr>
            <p:ph idx="12" type="sldNum"/>
          </p:nvPr>
        </p:nvSpPr>
        <p:spPr>
          <a:xfrm>
            <a:off x="3850443" y="9428584"/>
            <a:ext cx="2945700" cy="498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e13f270040_0_94:notes"/>
          <p:cNvSpPr/>
          <p:nvPr>
            <p:ph idx="2" type="sldImg"/>
          </p:nvPr>
        </p:nvSpPr>
        <p:spPr>
          <a:xfrm>
            <a:off x="422275" y="1241425"/>
            <a:ext cx="5953200" cy="334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e13f270040_0_94:notes"/>
          <p:cNvSpPr txBox="1"/>
          <p:nvPr>
            <p:ph idx="1" type="body"/>
          </p:nvPr>
        </p:nvSpPr>
        <p:spPr>
          <a:xfrm>
            <a:off x="679768" y="4777194"/>
            <a:ext cx="5438100" cy="3908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g3e13f270040_0_94:notes"/>
          <p:cNvSpPr txBox="1"/>
          <p:nvPr>
            <p:ph idx="12" type="sldNum"/>
          </p:nvPr>
        </p:nvSpPr>
        <p:spPr>
          <a:xfrm>
            <a:off x="3850443" y="9428584"/>
            <a:ext cx="2945700" cy="498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e13f270040_0_105:notes"/>
          <p:cNvSpPr/>
          <p:nvPr>
            <p:ph idx="2" type="sldImg"/>
          </p:nvPr>
        </p:nvSpPr>
        <p:spPr>
          <a:xfrm>
            <a:off x="422275" y="1241425"/>
            <a:ext cx="5953200" cy="334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e13f270040_0_105:notes"/>
          <p:cNvSpPr txBox="1"/>
          <p:nvPr>
            <p:ph idx="1" type="body"/>
          </p:nvPr>
        </p:nvSpPr>
        <p:spPr>
          <a:xfrm>
            <a:off x="679768" y="4777194"/>
            <a:ext cx="5438100" cy="3908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g3e13f270040_0_105:notes"/>
          <p:cNvSpPr txBox="1"/>
          <p:nvPr>
            <p:ph idx="12" type="sldNum"/>
          </p:nvPr>
        </p:nvSpPr>
        <p:spPr>
          <a:xfrm>
            <a:off x="3850443" y="9428584"/>
            <a:ext cx="2945700" cy="498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e13f270040_0_116:notes"/>
          <p:cNvSpPr/>
          <p:nvPr>
            <p:ph idx="2" type="sldImg"/>
          </p:nvPr>
        </p:nvSpPr>
        <p:spPr>
          <a:xfrm>
            <a:off x="422275" y="1241425"/>
            <a:ext cx="5953200" cy="334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e13f270040_0_116:notes"/>
          <p:cNvSpPr txBox="1"/>
          <p:nvPr>
            <p:ph idx="1" type="body"/>
          </p:nvPr>
        </p:nvSpPr>
        <p:spPr>
          <a:xfrm>
            <a:off x="679768" y="4777194"/>
            <a:ext cx="5438100" cy="3908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g3e13f270040_0_116:notes"/>
          <p:cNvSpPr txBox="1"/>
          <p:nvPr>
            <p:ph idx="12" type="sldNum"/>
          </p:nvPr>
        </p:nvSpPr>
        <p:spPr>
          <a:xfrm>
            <a:off x="3850443" y="9428584"/>
            <a:ext cx="2945700" cy="498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e13f270040_0_125:notes"/>
          <p:cNvSpPr/>
          <p:nvPr>
            <p:ph idx="2" type="sldImg"/>
          </p:nvPr>
        </p:nvSpPr>
        <p:spPr>
          <a:xfrm>
            <a:off x="422275" y="1241425"/>
            <a:ext cx="5953200" cy="334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e13f270040_0_125:notes"/>
          <p:cNvSpPr txBox="1"/>
          <p:nvPr>
            <p:ph idx="1" type="body"/>
          </p:nvPr>
        </p:nvSpPr>
        <p:spPr>
          <a:xfrm>
            <a:off x="679768" y="4777194"/>
            <a:ext cx="5438100" cy="3908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g3e13f270040_0_125:notes"/>
          <p:cNvSpPr txBox="1"/>
          <p:nvPr>
            <p:ph idx="12" type="sldNum"/>
          </p:nvPr>
        </p:nvSpPr>
        <p:spPr>
          <a:xfrm>
            <a:off x="3850443" y="9428584"/>
            <a:ext cx="2945700" cy="498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e13f270040_0_136:notes"/>
          <p:cNvSpPr/>
          <p:nvPr>
            <p:ph idx="2" type="sldImg"/>
          </p:nvPr>
        </p:nvSpPr>
        <p:spPr>
          <a:xfrm>
            <a:off x="422275" y="1241425"/>
            <a:ext cx="5953200" cy="334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e13f270040_0_136:notes"/>
          <p:cNvSpPr txBox="1"/>
          <p:nvPr>
            <p:ph idx="1" type="body"/>
          </p:nvPr>
        </p:nvSpPr>
        <p:spPr>
          <a:xfrm>
            <a:off x="679768" y="4777194"/>
            <a:ext cx="5438100" cy="3908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g3e13f270040_0_136:notes"/>
          <p:cNvSpPr txBox="1"/>
          <p:nvPr>
            <p:ph idx="12" type="sldNum"/>
          </p:nvPr>
        </p:nvSpPr>
        <p:spPr>
          <a:xfrm>
            <a:off x="3850443" y="9428584"/>
            <a:ext cx="2945700" cy="498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6:notes"/>
          <p:cNvSpPr txBox="1"/>
          <p:nvPr>
            <p:ph idx="1" type="body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3" name="Google Shape;323;p6:notes"/>
          <p:cNvSpPr/>
          <p:nvPr>
            <p:ph idx="2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ложка">
  <p:cSld name="Обложка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ue circle with white text&#10;&#10;Description automatically generated with low confidence" id="16" name="Google Shape;1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3859" y="962173"/>
            <a:ext cx="886499" cy="8864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" name="Google Shape;17;p12"/>
          <p:cNvCxnSpPr/>
          <p:nvPr/>
        </p:nvCxnSpPr>
        <p:spPr>
          <a:xfrm>
            <a:off x="6090212" y="985336"/>
            <a:ext cx="0" cy="840173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" name="Google Shape;18;p12"/>
          <p:cNvCxnSpPr/>
          <p:nvPr/>
        </p:nvCxnSpPr>
        <p:spPr>
          <a:xfrm>
            <a:off x="8642581" y="985336"/>
            <a:ext cx="0" cy="840173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9" name="Google Shape;19;p12"/>
          <p:cNvCxnSpPr/>
          <p:nvPr/>
        </p:nvCxnSpPr>
        <p:spPr>
          <a:xfrm>
            <a:off x="11179047" y="985336"/>
            <a:ext cx="0" cy="840173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" name="Google Shape;20;p12"/>
          <p:cNvSpPr txBox="1"/>
          <p:nvPr>
            <p:ph type="title"/>
          </p:nvPr>
        </p:nvSpPr>
        <p:spPr>
          <a:xfrm>
            <a:off x="1027967" y="2404670"/>
            <a:ext cx="7634059" cy="19783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4300"/>
              <a:buFont typeface="Arial"/>
              <a:buNone/>
              <a:defRPr b="0" i="0" sz="4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2"/>
          <p:cNvSpPr txBox="1"/>
          <p:nvPr>
            <p:ph idx="1" type="body"/>
          </p:nvPr>
        </p:nvSpPr>
        <p:spPr>
          <a:xfrm>
            <a:off x="2074947" y="1187841"/>
            <a:ext cx="3848717" cy="435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 sz="16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 sz="16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 sz="16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 sz="16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 sz="16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12"/>
          <p:cNvSpPr txBox="1"/>
          <p:nvPr>
            <p:ph idx="2" type="body"/>
          </p:nvPr>
        </p:nvSpPr>
        <p:spPr>
          <a:xfrm>
            <a:off x="6259420" y="1173829"/>
            <a:ext cx="2278063" cy="4631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200"/>
              <a:buFont typeface="Arial"/>
              <a:buNone/>
              <a:defRPr b="0" i="0" sz="12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3" type="body"/>
          </p:nvPr>
        </p:nvSpPr>
        <p:spPr>
          <a:xfrm>
            <a:off x="8786720" y="1173829"/>
            <a:ext cx="2217738" cy="4631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200"/>
              <a:buFont typeface="Arial"/>
              <a:buNone/>
              <a:defRPr b="0" i="0" sz="12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4" type="body"/>
          </p:nvPr>
        </p:nvSpPr>
        <p:spPr>
          <a:xfrm>
            <a:off x="1027967" y="4824914"/>
            <a:ext cx="7625267" cy="652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600"/>
              <a:buFont typeface="Arial"/>
              <a:buNone/>
              <a:defRPr b="0" i="0" sz="16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кст_1">
  <p:cSld name="Текст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26" name="Google Shape;2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" name="Google Shape;27;p13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8" name="Google Shape;28;p13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9" name="Google Shape;29;p13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" name="Google Shape;30;p13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b="0" i="0" lang="ru-RU" sz="2000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2000" u="none" cap="none" strike="noStrike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13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2" name="Google Shape;32;p13"/>
          <p:cNvSpPr/>
          <p:nvPr>
            <p:ph idx="2" type="pic"/>
          </p:nvPr>
        </p:nvSpPr>
        <p:spPr>
          <a:xfrm>
            <a:off x="6684653" y="1447790"/>
            <a:ext cx="4325167" cy="4325107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33" name="Google Shape;33;p13"/>
          <p:cNvSpPr txBox="1"/>
          <p:nvPr>
            <p:ph type="title"/>
          </p:nvPr>
        </p:nvSpPr>
        <p:spPr>
          <a:xfrm>
            <a:off x="585898" y="1447790"/>
            <a:ext cx="5245560" cy="777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" type="body"/>
          </p:nvPr>
        </p:nvSpPr>
        <p:spPr>
          <a:xfrm>
            <a:off x="585897" y="2379663"/>
            <a:ext cx="5245561" cy="33932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3" type="body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3"/>
          <p:cNvSpPr txBox="1"/>
          <p:nvPr>
            <p:ph idx="4" type="body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3"/>
          <p:cNvSpPr txBox="1"/>
          <p:nvPr>
            <p:ph idx="5" type="body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чистый">
  <p:cSld name="чистый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rgbClr val="0A204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" name="Google Shape;4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10809" y="2643809"/>
            <a:ext cx="1570383" cy="15703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кст_2">
  <p:cSld name="Текст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42" name="Google Shape;4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" name="Google Shape;43;p14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" name="Google Shape;44;p14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" name="Google Shape;45;p14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6" name="Google Shape;46;p14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b="0" i="0" lang="ru-RU" sz="2000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2000" u="none" cap="none" strike="noStrike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" name="Google Shape;47;p14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8" name="Google Shape;48;p14"/>
          <p:cNvSpPr txBox="1"/>
          <p:nvPr>
            <p:ph idx="1" type="body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14"/>
          <p:cNvSpPr txBox="1"/>
          <p:nvPr>
            <p:ph idx="2" type="body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14"/>
          <p:cNvSpPr txBox="1"/>
          <p:nvPr>
            <p:ph type="title"/>
          </p:nvPr>
        </p:nvSpPr>
        <p:spPr>
          <a:xfrm>
            <a:off x="585897" y="1447790"/>
            <a:ext cx="11057955" cy="777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3" type="body"/>
          </p:nvPr>
        </p:nvSpPr>
        <p:spPr>
          <a:xfrm>
            <a:off x="585897" y="2379663"/>
            <a:ext cx="11057971" cy="37450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4" type="body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кст_3">
  <p:cSld name="Текст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54" name="Google Shape;5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" name="Google Shape;55;p15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6" name="Google Shape;56;p15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7" name="Google Shape;57;p15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8" name="Google Shape;58;p15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b="0" i="0" lang="ru-RU" sz="2000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2000" u="none" cap="none" strike="noStrike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" name="Google Shape;59;p15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15"/>
          <p:cNvSpPr txBox="1"/>
          <p:nvPr>
            <p:ph idx="2" type="body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3" type="body"/>
          </p:nvPr>
        </p:nvSpPr>
        <p:spPr>
          <a:xfrm>
            <a:off x="585898" y="2379663"/>
            <a:ext cx="4322531" cy="2399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4" type="body"/>
          </p:nvPr>
        </p:nvSpPr>
        <p:spPr>
          <a:xfrm>
            <a:off x="585897" y="5183249"/>
            <a:ext cx="3934345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5" type="body"/>
          </p:nvPr>
        </p:nvSpPr>
        <p:spPr>
          <a:xfrm>
            <a:off x="6259892" y="2379663"/>
            <a:ext cx="5383968" cy="34517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3200"/>
              <a:buFont typeface="Arial"/>
              <a:buNone/>
              <a:defRPr b="0" i="0" sz="32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6" type="body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type="title"/>
          </p:nvPr>
        </p:nvSpPr>
        <p:spPr>
          <a:xfrm>
            <a:off x="585897" y="1447790"/>
            <a:ext cx="11057955" cy="777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График_1">
  <p:cSld name="График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68" name="Google Shape;6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9" name="Google Shape;69;p17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0" name="Google Shape;70;p17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1" name="Google Shape;71;p17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2" name="Google Shape;72;p17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b="0" i="0" lang="ru-RU" sz="2000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2000" u="none" cap="none" strike="noStrike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" name="Google Shape;73;p17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2" type="body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3" type="body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type="title"/>
          </p:nvPr>
        </p:nvSpPr>
        <p:spPr>
          <a:xfrm>
            <a:off x="585899" y="1447790"/>
            <a:ext cx="4322530" cy="777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4" type="body"/>
          </p:nvPr>
        </p:nvSpPr>
        <p:spPr>
          <a:xfrm>
            <a:off x="585898" y="2379663"/>
            <a:ext cx="4322531" cy="2399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5" type="body"/>
          </p:nvPr>
        </p:nvSpPr>
        <p:spPr>
          <a:xfrm>
            <a:off x="585897" y="5183249"/>
            <a:ext cx="3934345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17"/>
          <p:cNvSpPr/>
          <p:nvPr>
            <p:ph idx="6" type="chart"/>
          </p:nvPr>
        </p:nvSpPr>
        <p:spPr>
          <a:xfrm>
            <a:off x="5272097" y="1447790"/>
            <a:ext cx="6371768" cy="42894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График_2">
  <p:cSld name="График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82" name="Google Shape;8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3" name="Google Shape;83;p18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4" name="Google Shape;84;p18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5" name="Google Shape;85;p18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6" name="Google Shape;86;p18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b="0" i="0" lang="ru-RU" sz="2000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2000" u="none" cap="none" strike="noStrike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7" name="Google Shape;87;p18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2" type="body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0" name="Google Shape;90;p18"/>
          <p:cNvSpPr txBox="1"/>
          <p:nvPr>
            <p:ph idx="3" type="body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18"/>
          <p:cNvSpPr txBox="1"/>
          <p:nvPr>
            <p:ph idx="4" type="body"/>
          </p:nvPr>
        </p:nvSpPr>
        <p:spPr>
          <a:xfrm>
            <a:off x="585897" y="5183249"/>
            <a:ext cx="3934345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18"/>
          <p:cNvSpPr/>
          <p:nvPr>
            <p:ph idx="5" type="chart"/>
          </p:nvPr>
        </p:nvSpPr>
        <p:spPr>
          <a:xfrm>
            <a:off x="5272097" y="1447790"/>
            <a:ext cx="6371768" cy="42894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3" name="Google Shape;93;p18"/>
          <p:cNvSpPr txBox="1"/>
          <p:nvPr>
            <p:ph idx="6" type="body"/>
          </p:nvPr>
        </p:nvSpPr>
        <p:spPr>
          <a:xfrm>
            <a:off x="585788" y="1447064"/>
            <a:ext cx="4322762" cy="703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600"/>
              <a:buNone/>
              <a:defRPr b="0" i="0" sz="16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b="0" i="0" sz="16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b="0" i="0" sz="16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b="0" i="0" sz="16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b="0" i="0" sz="16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4" name="Google Shape;94;p18"/>
          <p:cNvSpPr txBox="1"/>
          <p:nvPr>
            <p:ph idx="7" type="body"/>
          </p:nvPr>
        </p:nvSpPr>
        <p:spPr>
          <a:xfrm>
            <a:off x="585898" y="2379663"/>
            <a:ext cx="4322531" cy="2399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Цифры">
  <p:cSld name="Цифры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96" name="Google Shape;9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7" name="Google Shape;97;p19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8" name="Google Shape;98;p19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9" name="Google Shape;99;p19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0" name="Google Shape;100;p19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b="0" i="0" lang="ru-RU" sz="2000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2000" u="none" cap="none" strike="noStrike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1" name="Google Shape;101;p19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2" name="Google Shape;102;p19"/>
          <p:cNvSpPr txBox="1"/>
          <p:nvPr>
            <p:ph idx="1" type="body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19"/>
          <p:cNvSpPr txBox="1"/>
          <p:nvPr>
            <p:ph idx="2" type="body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p19"/>
          <p:cNvSpPr txBox="1"/>
          <p:nvPr>
            <p:ph idx="3" type="body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19"/>
          <p:cNvSpPr txBox="1"/>
          <p:nvPr>
            <p:ph type="title"/>
          </p:nvPr>
        </p:nvSpPr>
        <p:spPr>
          <a:xfrm>
            <a:off x="585897" y="1447790"/>
            <a:ext cx="11057955" cy="777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9"/>
          <p:cNvSpPr txBox="1"/>
          <p:nvPr>
            <p:ph idx="4" type="body"/>
          </p:nvPr>
        </p:nvSpPr>
        <p:spPr>
          <a:xfrm>
            <a:off x="575076" y="4103994"/>
            <a:ext cx="2758143" cy="1569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19"/>
          <p:cNvSpPr txBox="1"/>
          <p:nvPr>
            <p:ph idx="5" type="body"/>
          </p:nvPr>
        </p:nvSpPr>
        <p:spPr>
          <a:xfrm>
            <a:off x="4047007" y="4103994"/>
            <a:ext cx="2757612" cy="1569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8" name="Google Shape;108;p19"/>
          <p:cNvSpPr txBox="1"/>
          <p:nvPr>
            <p:ph idx="6" type="body"/>
          </p:nvPr>
        </p:nvSpPr>
        <p:spPr>
          <a:xfrm>
            <a:off x="7518938" y="4103994"/>
            <a:ext cx="2757612" cy="1569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19"/>
          <p:cNvSpPr txBox="1"/>
          <p:nvPr>
            <p:ph idx="7" type="body"/>
          </p:nvPr>
        </p:nvSpPr>
        <p:spPr>
          <a:xfrm>
            <a:off x="575076" y="2710235"/>
            <a:ext cx="2758143" cy="11641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  <a:defRPr sz="9600">
                <a:latin typeface="Arial"/>
                <a:ea typeface="Arial"/>
                <a:cs typeface="Arial"/>
                <a:sym typeface="Arial"/>
              </a:defRPr>
            </a:lvl1pPr>
            <a:lvl2pPr indent="-838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2pPr>
            <a:lvl3pPr indent="-838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3pPr>
            <a:lvl4pPr indent="-838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4pPr>
            <a:lvl5pPr indent="-838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19"/>
          <p:cNvSpPr txBox="1"/>
          <p:nvPr>
            <p:ph idx="8" type="body"/>
          </p:nvPr>
        </p:nvSpPr>
        <p:spPr>
          <a:xfrm>
            <a:off x="4047007" y="2710235"/>
            <a:ext cx="2758143" cy="11641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  <a:defRPr sz="9600">
                <a:latin typeface="Arial"/>
                <a:ea typeface="Arial"/>
                <a:cs typeface="Arial"/>
                <a:sym typeface="Arial"/>
              </a:defRPr>
            </a:lvl1pPr>
            <a:lvl2pPr indent="-838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2pPr>
            <a:lvl3pPr indent="-838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3pPr>
            <a:lvl4pPr indent="-838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4pPr>
            <a:lvl5pPr indent="-838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1" name="Google Shape;111;p19"/>
          <p:cNvSpPr txBox="1"/>
          <p:nvPr>
            <p:ph idx="9" type="body"/>
          </p:nvPr>
        </p:nvSpPr>
        <p:spPr>
          <a:xfrm>
            <a:off x="7518938" y="2710235"/>
            <a:ext cx="2758143" cy="11641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  <a:defRPr sz="9600">
                <a:latin typeface="Arial"/>
                <a:ea typeface="Arial"/>
                <a:cs typeface="Arial"/>
                <a:sym typeface="Arial"/>
              </a:defRPr>
            </a:lvl1pPr>
            <a:lvl2pPr indent="-838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2pPr>
            <a:lvl3pPr indent="-838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3pPr>
            <a:lvl4pPr indent="-838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4pPr>
            <a:lvl5pPr indent="-838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аблица_1">
  <p:cSld name="Таблица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113" name="Google Shape;11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4" name="Google Shape;114;p20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5" name="Google Shape;115;p20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6" name="Google Shape;116;p20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7" name="Google Shape;117;p20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b="0" i="0" lang="ru-RU" sz="2000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2000" u="none" cap="none" strike="noStrike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8" name="Google Shape;118;p20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9" name="Google Shape;119;p20"/>
          <p:cNvSpPr txBox="1"/>
          <p:nvPr>
            <p:ph idx="1" type="body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0" name="Google Shape;120;p20"/>
          <p:cNvSpPr txBox="1"/>
          <p:nvPr>
            <p:ph idx="2" type="body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1" name="Google Shape;121;p20"/>
          <p:cNvSpPr txBox="1"/>
          <p:nvPr>
            <p:ph idx="3" type="body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20"/>
          <p:cNvSpPr txBox="1"/>
          <p:nvPr>
            <p:ph idx="4" type="body"/>
          </p:nvPr>
        </p:nvSpPr>
        <p:spPr>
          <a:xfrm>
            <a:off x="585787" y="1447065"/>
            <a:ext cx="11058065" cy="307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600"/>
              <a:buNone/>
              <a:defRPr b="0" i="0" sz="16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b="0" i="0" sz="16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b="0" i="0" sz="16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b="0" i="0" sz="16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b="0" i="0" sz="16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20"/>
          <p:cNvSpPr txBox="1"/>
          <p:nvPr>
            <p:ph idx="5" type="body"/>
          </p:nvPr>
        </p:nvSpPr>
        <p:spPr>
          <a:xfrm>
            <a:off x="585788" y="5739189"/>
            <a:ext cx="6824303" cy="7032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11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Char char="•"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11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Char char="•"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11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Char char="•"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11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Char char="•"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аблица_2">
  <p:cSld name="Таблица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125" name="Google Shape;12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6" name="Google Shape;126;p21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7" name="Google Shape;127;p21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8" name="Google Shape;128;p21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9" name="Google Shape;129;p21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b="0" i="0" lang="ru-RU" sz="2000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2000" u="none" cap="none" strike="noStrike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0" name="Google Shape;130;p21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1" name="Google Shape;131;p21"/>
          <p:cNvSpPr txBox="1"/>
          <p:nvPr>
            <p:ph idx="1" type="body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2" name="Google Shape;132;p21"/>
          <p:cNvSpPr txBox="1"/>
          <p:nvPr>
            <p:ph idx="2" type="body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3" name="Google Shape;133;p21"/>
          <p:cNvSpPr txBox="1"/>
          <p:nvPr>
            <p:ph idx="3" type="body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4" name="Google Shape;134;p21"/>
          <p:cNvSpPr txBox="1"/>
          <p:nvPr>
            <p:ph idx="4" type="body"/>
          </p:nvPr>
        </p:nvSpPr>
        <p:spPr>
          <a:xfrm>
            <a:off x="585787" y="1447064"/>
            <a:ext cx="7617877" cy="5370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600"/>
              <a:buNone/>
              <a:defRPr b="0" i="0" sz="16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b="0" i="0" sz="16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b="0" i="0" sz="16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b="0" i="0" sz="16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b="0" i="0" sz="16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5" name="Google Shape;135;p21"/>
          <p:cNvSpPr txBox="1"/>
          <p:nvPr>
            <p:ph idx="5" type="body"/>
          </p:nvPr>
        </p:nvSpPr>
        <p:spPr>
          <a:xfrm>
            <a:off x="585788" y="5739189"/>
            <a:ext cx="6824303" cy="7032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11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Char char="•"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11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Char char="•"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11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Char char="•"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11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Char char="•"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6" name="Google Shape;136;p21"/>
          <p:cNvSpPr txBox="1"/>
          <p:nvPr>
            <p:ph idx="6" type="body"/>
          </p:nvPr>
        </p:nvSpPr>
        <p:spPr>
          <a:xfrm>
            <a:off x="8686807" y="2208363"/>
            <a:ext cx="2930666" cy="25706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цвет">
  <p:cSld name="цвет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138" name="Google Shape;13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9" name="Google Shape;139;p22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0" name="Google Shape;140;p22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1" name="Google Shape;141;p22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2" name="Google Shape;142;p22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b="0" i="0" lang="ru-RU" sz="2000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2000" u="none" cap="none" strike="noStrike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3" name="Google Shape;143;p22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4" name="Google Shape;144;p22"/>
          <p:cNvSpPr txBox="1"/>
          <p:nvPr>
            <p:ph idx="1" type="body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5" name="Google Shape;145;p22"/>
          <p:cNvSpPr txBox="1"/>
          <p:nvPr>
            <p:ph idx="2" type="body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p22"/>
          <p:cNvSpPr txBox="1"/>
          <p:nvPr>
            <p:ph idx="3" type="body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7" name="Google Shape;147;p22"/>
          <p:cNvSpPr txBox="1"/>
          <p:nvPr>
            <p:ph type="title"/>
          </p:nvPr>
        </p:nvSpPr>
        <p:spPr>
          <a:xfrm>
            <a:off x="585899" y="1447790"/>
            <a:ext cx="4322530" cy="777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22"/>
          <p:cNvSpPr txBox="1"/>
          <p:nvPr>
            <p:ph idx="4" type="body"/>
          </p:nvPr>
        </p:nvSpPr>
        <p:spPr>
          <a:xfrm>
            <a:off x="585898" y="2379663"/>
            <a:ext cx="4322531" cy="2399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9" name="Google Shape;149;p22"/>
          <p:cNvSpPr/>
          <p:nvPr/>
        </p:nvSpPr>
        <p:spPr>
          <a:xfrm>
            <a:off x="5392982" y="1447790"/>
            <a:ext cx="830997" cy="830997"/>
          </a:xfrm>
          <a:prstGeom prst="ellipse">
            <a:avLst/>
          </a:prstGeom>
          <a:solidFill>
            <a:srgbClr val="0E2D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2"/>
          <p:cNvSpPr/>
          <p:nvPr/>
        </p:nvSpPr>
        <p:spPr>
          <a:xfrm>
            <a:off x="6742925" y="1447790"/>
            <a:ext cx="830997" cy="830997"/>
          </a:xfrm>
          <a:prstGeom prst="ellipse">
            <a:avLst/>
          </a:prstGeom>
          <a:solidFill>
            <a:srgbClr val="234A9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2"/>
          <p:cNvSpPr/>
          <p:nvPr/>
        </p:nvSpPr>
        <p:spPr>
          <a:xfrm>
            <a:off x="8092868" y="1447790"/>
            <a:ext cx="830997" cy="830997"/>
          </a:xfrm>
          <a:prstGeom prst="ellipse">
            <a:avLst/>
          </a:prstGeom>
          <a:solidFill>
            <a:srgbClr val="11A0D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2"/>
          <p:cNvSpPr/>
          <p:nvPr/>
        </p:nvSpPr>
        <p:spPr>
          <a:xfrm>
            <a:off x="9442811" y="1447790"/>
            <a:ext cx="830997" cy="830997"/>
          </a:xfrm>
          <a:prstGeom prst="ellipse">
            <a:avLst/>
          </a:prstGeom>
          <a:solidFill>
            <a:srgbClr val="029C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2"/>
          <p:cNvSpPr/>
          <p:nvPr/>
        </p:nvSpPr>
        <p:spPr>
          <a:xfrm>
            <a:off x="10792754" y="1447790"/>
            <a:ext cx="830997" cy="830997"/>
          </a:xfrm>
          <a:prstGeom prst="ellipse">
            <a:avLst/>
          </a:prstGeom>
          <a:solidFill>
            <a:srgbClr val="EB681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2"/>
          <p:cNvSpPr/>
          <p:nvPr/>
        </p:nvSpPr>
        <p:spPr>
          <a:xfrm>
            <a:off x="5392982" y="2708699"/>
            <a:ext cx="830997" cy="830997"/>
          </a:xfrm>
          <a:prstGeom prst="ellipse">
            <a:avLst/>
          </a:prstGeom>
          <a:solidFill>
            <a:srgbClr val="7D4EB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2"/>
          <p:cNvSpPr/>
          <p:nvPr/>
        </p:nvSpPr>
        <p:spPr>
          <a:xfrm>
            <a:off x="6742925" y="2708699"/>
            <a:ext cx="830997" cy="830997"/>
          </a:xfrm>
          <a:prstGeom prst="ellipse">
            <a:avLst/>
          </a:prstGeom>
          <a:solidFill>
            <a:srgbClr val="E61F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2"/>
          <p:cNvSpPr/>
          <p:nvPr/>
        </p:nvSpPr>
        <p:spPr>
          <a:xfrm>
            <a:off x="8092868" y="2708699"/>
            <a:ext cx="830997" cy="830997"/>
          </a:xfrm>
          <a:prstGeom prst="ellipse">
            <a:avLst/>
          </a:prstGeom>
          <a:solidFill>
            <a:srgbClr val="FBBA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2"/>
          <p:cNvSpPr/>
          <p:nvPr/>
        </p:nvSpPr>
        <p:spPr>
          <a:xfrm>
            <a:off x="9442811" y="2708699"/>
            <a:ext cx="830997" cy="830997"/>
          </a:xfrm>
          <a:prstGeom prst="ellipse">
            <a:avLst/>
          </a:prstGeom>
          <a:solidFill>
            <a:srgbClr val="7DA0D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2"/>
          <p:cNvSpPr/>
          <p:nvPr/>
        </p:nvSpPr>
        <p:spPr>
          <a:xfrm>
            <a:off x="10792754" y="2708699"/>
            <a:ext cx="830997" cy="830997"/>
          </a:xfrm>
          <a:prstGeom prst="ellipse">
            <a:avLst/>
          </a:prstGeom>
          <a:solidFill>
            <a:srgbClr val="47A0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2"/>
          <p:cNvSpPr/>
          <p:nvPr/>
        </p:nvSpPr>
        <p:spPr>
          <a:xfrm>
            <a:off x="5392982" y="3969609"/>
            <a:ext cx="830997" cy="830997"/>
          </a:xfrm>
          <a:prstGeom prst="ellipse">
            <a:avLst/>
          </a:prstGeom>
          <a:solidFill>
            <a:srgbClr val="EB8C3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2"/>
          <p:cNvSpPr/>
          <p:nvPr/>
        </p:nvSpPr>
        <p:spPr>
          <a:xfrm>
            <a:off x="6742925" y="3969609"/>
            <a:ext cx="830997" cy="830997"/>
          </a:xfrm>
          <a:prstGeom prst="ellipse">
            <a:avLst/>
          </a:prstGeom>
          <a:solidFill>
            <a:srgbClr val="9662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2"/>
          <p:cNvSpPr/>
          <p:nvPr/>
        </p:nvSpPr>
        <p:spPr>
          <a:xfrm>
            <a:off x="8092868" y="3969609"/>
            <a:ext cx="830997" cy="830997"/>
          </a:xfrm>
          <a:prstGeom prst="ellipse">
            <a:avLst/>
          </a:prstGeom>
          <a:solidFill>
            <a:srgbClr val="CD5A5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2"/>
          <p:cNvSpPr/>
          <p:nvPr/>
        </p:nvSpPr>
        <p:spPr>
          <a:xfrm>
            <a:off x="9442811" y="3969609"/>
            <a:ext cx="830997" cy="830997"/>
          </a:xfrm>
          <a:prstGeom prst="ellipse">
            <a:avLst/>
          </a:prstGeom>
          <a:solidFill>
            <a:srgbClr val="FFD74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2"/>
          <p:cNvSpPr/>
          <p:nvPr/>
        </p:nvSpPr>
        <p:spPr>
          <a:xfrm>
            <a:off x="10792754" y="3969609"/>
            <a:ext cx="830997" cy="830997"/>
          </a:xfrm>
          <a:prstGeom prst="ellipse">
            <a:avLst/>
          </a:prstGeom>
          <a:solidFill>
            <a:srgbClr val="CDDD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2"/>
          <p:cNvSpPr/>
          <p:nvPr/>
        </p:nvSpPr>
        <p:spPr>
          <a:xfrm>
            <a:off x="5392982" y="5249769"/>
            <a:ext cx="830997" cy="830997"/>
          </a:xfrm>
          <a:prstGeom prst="ellipse">
            <a:avLst/>
          </a:prstGeom>
          <a:solidFill>
            <a:srgbClr val="D7EBB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2"/>
          <p:cNvSpPr/>
          <p:nvPr/>
        </p:nvSpPr>
        <p:spPr>
          <a:xfrm>
            <a:off x="6742925" y="5249769"/>
            <a:ext cx="830997" cy="830997"/>
          </a:xfrm>
          <a:prstGeom prst="ellipse">
            <a:avLst/>
          </a:prstGeom>
          <a:solidFill>
            <a:srgbClr val="FFDC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2"/>
          <p:cNvSpPr/>
          <p:nvPr/>
        </p:nvSpPr>
        <p:spPr>
          <a:xfrm>
            <a:off x="8092868" y="5249769"/>
            <a:ext cx="830997" cy="830997"/>
          </a:xfrm>
          <a:prstGeom prst="ellipse">
            <a:avLst/>
          </a:prstGeom>
          <a:solidFill>
            <a:srgbClr val="D7C3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2"/>
          <p:cNvSpPr/>
          <p:nvPr/>
        </p:nvSpPr>
        <p:spPr>
          <a:xfrm>
            <a:off x="9442811" y="5249769"/>
            <a:ext cx="830997" cy="830997"/>
          </a:xfrm>
          <a:prstGeom prst="ellipse">
            <a:avLst/>
          </a:prstGeom>
          <a:solidFill>
            <a:srgbClr val="F6C3C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2"/>
          <p:cNvSpPr/>
          <p:nvPr/>
        </p:nvSpPr>
        <p:spPr>
          <a:xfrm>
            <a:off x="10792754" y="5249769"/>
            <a:ext cx="830997" cy="830997"/>
          </a:xfrm>
          <a:prstGeom prst="ellipse">
            <a:avLst/>
          </a:prstGeom>
          <a:solidFill>
            <a:srgbClr val="FFF07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чистый_2">
  <p:cSld name="чистый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170" name="Google Shape;17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1" name="Google Shape;171;p23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2" name="Google Shape;172;p23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3" name="Google Shape;173;p23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4" name="Google Shape;174;p23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b="0" i="0" lang="ru-RU" sz="2000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2000" u="none" cap="none" strike="noStrike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5" name="Google Shape;175;p23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6" name="Google Shape;176;p23"/>
          <p:cNvSpPr txBox="1"/>
          <p:nvPr>
            <p:ph idx="1" type="body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7" name="Google Shape;177;p23"/>
          <p:cNvSpPr txBox="1"/>
          <p:nvPr>
            <p:ph idx="2" type="body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8" name="Google Shape;178;p23"/>
          <p:cNvSpPr txBox="1"/>
          <p:nvPr>
            <p:ph idx="3" type="body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1" Type="http://schemas.openxmlformats.org/officeDocument/2006/relationships/hyperlink" Target="https://cyberleninka.ru/article/n/sravnenie-metodov-obnaruzheniya-strukturnyh-sdvigov-v-garch-modelyah-na-osnove-kumulyativnyh-summ-i-dvuhvyborochnogo-testa" TargetMode="External"/><Relationship Id="rId10" Type="http://schemas.openxmlformats.org/officeDocument/2006/relationships/hyperlink" Target="https://doi.org/10.1080/07350015.1995.10524599" TargetMode="External"/><Relationship Id="rId13" Type="http://schemas.openxmlformats.org/officeDocument/2006/relationships/hyperlink" Target="https://cyberleninka.ru/article/n/protsedura-utochneniya-icss-algoritma-obnaruzheniya-strukturnyh-sdvigov-v-garch-modelyah" TargetMode="External"/><Relationship Id="rId12" Type="http://schemas.openxmlformats.org/officeDocument/2006/relationships/hyperlink" Target="https://cyberleninka.ru/article/n/ks-metod-obnaruzheniya-strukturnogo-sdviga-v-garch-1-1-modelyah" TargetMode="External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doi.org/10.1016/0304-4076(86)90063-1" TargetMode="External"/><Relationship Id="rId4" Type="http://schemas.openxmlformats.org/officeDocument/2006/relationships/hyperlink" Target="https://doi.org/10.1080/01621459.1994.10476824" TargetMode="External"/><Relationship Id="rId9" Type="http://schemas.openxmlformats.org/officeDocument/2006/relationships/hyperlink" Target="https://doi.org/10.1162/neco.1997.9.8.1735" TargetMode="External"/><Relationship Id="rId14" Type="http://schemas.openxmlformats.org/officeDocument/2006/relationships/hyperlink" Target="https://cyberleninka.ru/article/n/protsedura-utochneniya-icss-algoritma-obnaruzheniya-strukturnyh-sdvigov-v-garch-modelyah" TargetMode="External"/><Relationship Id="rId5" Type="http://schemas.openxmlformats.org/officeDocument/2006/relationships/hyperlink" Target="https://doi.org/10.2307/3318666" TargetMode="External"/><Relationship Id="rId6" Type="http://schemas.openxmlformats.org/officeDocument/2006/relationships/hyperlink" Target="https://doi.org/10.1111/j.1540-6261.1990.tb05086.x" TargetMode="External"/><Relationship Id="rId7" Type="http://schemas.openxmlformats.org/officeDocument/2006/relationships/hyperlink" Target="https://doi.org/10.1016/j.physa.2021.125985" TargetMode="External"/><Relationship Id="rId8" Type="http://schemas.openxmlformats.org/officeDocument/2006/relationships/hyperlink" Target="https://doi.org/10.1016/j.eswa.2016.07.024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"/>
          <p:cNvSpPr txBox="1"/>
          <p:nvPr>
            <p:ph type="title"/>
          </p:nvPr>
        </p:nvSpPr>
        <p:spPr>
          <a:xfrm>
            <a:off x="1027975" y="2258150"/>
            <a:ext cx="9976500" cy="23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</a:pPr>
            <a:r>
              <a:rPr lang="ru-RU" sz="3000"/>
              <a:t>Гибридное прогнозирование волатильности с </a:t>
            </a:r>
            <a:r>
              <a:rPr lang="ru-RU" sz="3000"/>
              <a:t>учетом</a:t>
            </a:r>
            <a:r>
              <a:rPr lang="ru-RU" sz="3000"/>
              <a:t> структурных сдвигов: сравнение методов ICSS, KL и KS в GARCH-моделях с LSTM-коррекцией (на примере индексов S&amp;P 500 и IMOEX, 2018–2025)</a:t>
            </a:r>
            <a:endParaRPr sz="3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3200"/>
              <a:buFont typeface="Arial"/>
              <a:buNone/>
            </a:pPr>
            <a:r>
              <a:t/>
            </a:r>
            <a:endParaRPr sz="3200"/>
          </a:p>
        </p:txBody>
      </p:sp>
      <p:sp>
        <p:nvSpPr>
          <p:cNvPr id="184" name="Google Shape;184;p1"/>
          <p:cNvSpPr txBox="1"/>
          <p:nvPr>
            <p:ph idx="1" type="body"/>
          </p:nvPr>
        </p:nvSpPr>
        <p:spPr>
          <a:xfrm>
            <a:off x="2074947" y="1187841"/>
            <a:ext cx="3848717" cy="435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ru-RU" sz="1300"/>
              <a:t>Факультет компьютерных наук</a:t>
            </a:r>
            <a:endParaRPr sz="1300"/>
          </a:p>
        </p:txBody>
      </p:sp>
      <p:sp>
        <p:nvSpPr>
          <p:cNvPr id="185" name="Google Shape;185;p1"/>
          <p:cNvSpPr txBox="1"/>
          <p:nvPr>
            <p:ph idx="2" type="body"/>
          </p:nvPr>
        </p:nvSpPr>
        <p:spPr>
          <a:xfrm>
            <a:off x="6259425" y="1173825"/>
            <a:ext cx="1781100" cy="6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ru-RU" sz="1300"/>
              <a:t>Программа ДПО ФКН  “Специалист по Data Science”</a:t>
            </a:r>
            <a:endParaRPr sz="1300"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200"/>
              <a:buFont typeface="Arial"/>
              <a:buNone/>
            </a:pPr>
            <a:r>
              <a:t/>
            </a:r>
            <a:endParaRPr sz="1300"/>
          </a:p>
        </p:txBody>
      </p:sp>
      <p:sp>
        <p:nvSpPr>
          <p:cNvPr id="186" name="Google Shape;186;p1"/>
          <p:cNvSpPr txBox="1"/>
          <p:nvPr>
            <p:ph idx="3" type="body"/>
          </p:nvPr>
        </p:nvSpPr>
        <p:spPr>
          <a:xfrm>
            <a:off x="8786720" y="1173829"/>
            <a:ext cx="2217738" cy="4631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200"/>
              <a:buFont typeface="Arial"/>
              <a:buNone/>
            </a:pPr>
            <a:r>
              <a:rPr lang="ru-RU" sz="1300"/>
              <a:t>Москва 2026</a:t>
            </a:r>
            <a:endParaRPr sz="1300"/>
          </a:p>
        </p:txBody>
      </p:sp>
      <p:sp>
        <p:nvSpPr>
          <p:cNvPr id="187" name="Google Shape;187;p1"/>
          <p:cNvSpPr txBox="1"/>
          <p:nvPr>
            <p:ph idx="4" type="body"/>
          </p:nvPr>
        </p:nvSpPr>
        <p:spPr>
          <a:xfrm>
            <a:off x="1027967" y="4905868"/>
            <a:ext cx="7625267" cy="652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ru-RU"/>
              <a:t>Студент: Савин В.С., DS20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ru-RU"/>
              <a:t>Научный руководитель: </a:t>
            </a:r>
            <a:r>
              <a:rPr lang="ru-RU"/>
              <a:t>Паточенко Евгений Анатольевич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"/>
          <p:cNvSpPr txBox="1"/>
          <p:nvPr>
            <p:ph type="title"/>
          </p:nvPr>
        </p:nvSpPr>
        <p:spPr>
          <a:xfrm>
            <a:off x="585900" y="1447795"/>
            <a:ext cx="52455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ru-RU"/>
              <a:t>Актуальность и проблема</a:t>
            </a:r>
            <a:endParaRPr/>
          </a:p>
        </p:txBody>
      </p:sp>
      <p:sp>
        <p:nvSpPr>
          <p:cNvPr id="193" name="Google Shape;193;p2"/>
          <p:cNvSpPr txBox="1"/>
          <p:nvPr/>
        </p:nvSpPr>
        <p:spPr>
          <a:xfrm>
            <a:off x="585900" y="2505450"/>
            <a:ext cx="11125200" cy="27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ru-RU" sz="2100">
                <a:solidFill>
                  <a:schemeClr val="dk1"/>
                </a:solidFill>
              </a:rPr>
              <a:t>Точное прогнозирование волатильности необходимо для расчёта Value‑at‑Risk, ценообразования опционов и хеджирования.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ru-RU" sz="2100">
                <a:solidFill>
                  <a:schemeClr val="dk1"/>
                </a:solidFill>
              </a:rPr>
              <a:t>Классические GARCH‑модели предполагают, что безусловная дисперсия постоянна, но на практике рынки испытывают структурные сдвиги, особенно в периоды мировых кризисов.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ru-RU" sz="2100">
                <a:solidFill>
                  <a:schemeClr val="dk1"/>
                </a:solidFill>
              </a:rPr>
              <a:t>Игнорирование сдвигов завышает сумму коэффициентов α+β (так называемую «долгую память»), ухудшая прогнозы.</a:t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e13f270040_0_4"/>
          <p:cNvSpPr txBox="1"/>
          <p:nvPr>
            <p:ph type="title"/>
          </p:nvPr>
        </p:nvSpPr>
        <p:spPr>
          <a:xfrm>
            <a:off x="585897" y="1447790"/>
            <a:ext cx="11058000" cy="77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Цель и задачи</a:t>
            </a:r>
            <a:endParaRPr/>
          </a:p>
        </p:txBody>
      </p:sp>
      <p:sp>
        <p:nvSpPr>
          <p:cNvPr id="200" name="Google Shape;200;g3e13f270040_0_4"/>
          <p:cNvSpPr txBox="1"/>
          <p:nvPr>
            <p:ph idx="1" type="body"/>
          </p:nvPr>
        </p:nvSpPr>
        <p:spPr>
          <a:xfrm>
            <a:off x="1143689" y="540904"/>
            <a:ext cx="19017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g3e13f270040_0_4"/>
          <p:cNvSpPr txBox="1"/>
          <p:nvPr>
            <p:ph idx="2" type="body"/>
          </p:nvPr>
        </p:nvSpPr>
        <p:spPr>
          <a:xfrm>
            <a:off x="3459163" y="548720"/>
            <a:ext cx="2070000" cy="4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3e13f270040_0_4"/>
          <p:cNvSpPr txBox="1"/>
          <p:nvPr>
            <p:ph idx="3" type="body"/>
          </p:nvPr>
        </p:nvSpPr>
        <p:spPr>
          <a:xfrm>
            <a:off x="585897" y="2379663"/>
            <a:ext cx="11058000" cy="3745200"/>
          </a:xfrm>
          <a:prstGeom prst="rect">
            <a:avLst/>
          </a:prstGeom>
        </p:spPr>
        <p:txBody>
          <a:bodyPr anchorCtr="0" anchor="t" bIns="4570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800"/>
              <a:t>Цель: </a:t>
            </a:r>
            <a:endParaRPr b="1" sz="1800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/>
              <a:t>разработать и проверить гибридную модель, которая сначала выявляет структурные сдвиги, затем строит GARCH с фиктивными переменными и, наконец, корректирует ошибки с помощью LSTM.</a:t>
            </a:r>
            <a:endParaRPr sz="1800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800"/>
              <a:t>Задачи:</a:t>
            </a:r>
            <a:endParaRPr b="1" sz="1800"/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-RU" sz="1800"/>
              <a:t>Реализовать алгоритмы ICSS, KL и KS для поиска дат сдвигов.</a:t>
            </a:r>
            <a:endParaRPr sz="1800"/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-RU" sz="1800"/>
              <a:t>Построить GARCH-dummy модели для каждого метода.</a:t>
            </a:r>
            <a:endParaRPr sz="1800"/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-RU" sz="1800"/>
              <a:t>Обучить LSTM‑сеть для коррекции ошибок этих моделей.</a:t>
            </a:r>
            <a:endParaRPr sz="1800"/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-RU" sz="1800"/>
              <a:t>Сравнить каче</a:t>
            </a:r>
            <a:r>
              <a:rPr lang="ru-RU" sz="1800"/>
              <a:t>с</a:t>
            </a:r>
            <a:r>
              <a:rPr lang="ru-RU" sz="1800"/>
              <a:t>тво прогнозов по RMSE и MAE.</a:t>
            </a:r>
            <a:endParaRPr sz="1800"/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-RU" sz="1800"/>
              <a:t>Дать рекомендации для развитого (S&amp;P 500) и развивающегося (IMOEX) рынков.</a:t>
            </a:r>
            <a:endParaRPr sz="1800"/>
          </a:p>
        </p:txBody>
      </p:sp>
      <p:sp>
        <p:nvSpPr>
          <p:cNvPr id="203" name="Google Shape;203;g3e13f270040_0_4"/>
          <p:cNvSpPr txBox="1"/>
          <p:nvPr>
            <p:ph idx="4" type="body"/>
          </p:nvPr>
        </p:nvSpPr>
        <p:spPr>
          <a:xfrm>
            <a:off x="6259892" y="548720"/>
            <a:ext cx="2070000" cy="4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e13f270040_0_14"/>
          <p:cNvSpPr txBox="1"/>
          <p:nvPr>
            <p:ph type="title"/>
          </p:nvPr>
        </p:nvSpPr>
        <p:spPr>
          <a:xfrm>
            <a:off x="585897" y="1447790"/>
            <a:ext cx="11058000" cy="77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Объект и данные</a:t>
            </a:r>
            <a:endParaRPr/>
          </a:p>
        </p:txBody>
      </p:sp>
      <p:sp>
        <p:nvSpPr>
          <p:cNvPr id="210" name="Google Shape;210;g3e13f270040_0_14"/>
          <p:cNvSpPr txBox="1"/>
          <p:nvPr>
            <p:ph idx="1" type="body"/>
          </p:nvPr>
        </p:nvSpPr>
        <p:spPr>
          <a:xfrm>
            <a:off x="1143689" y="540904"/>
            <a:ext cx="19017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g3e13f270040_0_14"/>
          <p:cNvSpPr txBox="1"/>
          <p:nvPr>
            <p:ph idx="2" type="body"/>
          </p:nvPr>
        </p:nvSpPr>
        <p:spPr>
          <a:xfrm>
            <a:off x="3459163" y="548720"/>
            <a:ext cx="2070000" cy="4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g3e13f270040_0_14"/>
          <p:cNvSpPr txBox="1"/>
          <p:nvPr>
            <p:ph idx="3" type="body"/>
          </p:nvPr>
        </p:nvSpPr>
        <p:spPr>
          <a:xfrm>
            <a:off x="585897" y="2379663"/>
            <a:ext cx="11058000" cy="3745200"/>
          </a:xfrm>
          <a:prstGeom prst="rect">
            <a:avLst/>
          </a:prstGeom>
        </p:spPr>
        <p:txBody>
          <a:bodyPr anchorCtr="0" anchor="t" bIns="45700" lIns="0" spcFirstLastPara="1" rIns="0" wrap="square" tIns="0">
            <a:noAutofit/>
          </a:bodyPr>
          <a:lstStyle/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ru-RU" sz="1800"/>
              <a:t>Индексы</a:t>
            </a:r>
            <a:r>
              <a:rPr lang="ru-RU" sz="1800"/>
              <a:t>: S&amp;P 500 (США, развитый рынок) и IMOEX (Россия, развивающийся рынок).</a:t>
            </a:r>
            <a:endParaRPr sz="1800"/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ru-RU" sz="1800"/>
              <a:t>Период</a:t>
            </a:r>
            <a:r>
              <a:rPr lang="ru-RU" sz="1800"/>
              <a:t>: 1 января 2018 г. - 1 апреля 2025 г. (охватывает торговую войну 2018 - 2019 гг, пандемию COVID-19 2020 г., геополитический кризис 2022 г. и период адаптации 2023 - 2025 гг.).</a:t>
            </a:r>
            <a:endParaRPr sz="1800"/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ru-RU" sz="1800"/>
              <a:t>Обучающая выборка</a:t>
            </a:r>
            <a:r>
              <a:rPr lang="ru-RU" sz="1800"/>
              <a:t>: 80% данных (до конца 2022 г.) - 1456 торговых дней для S&amp;P 500 и 1273 торговых дня для IMOEX.</a:t>
            </a:r>
            <a:endParaRPr sz="1800"/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ru-RU" sz="1800"/>
              <a:t>Тестовая выборка</a:t>
            </a:r>
            <a:r>
              <a:rPr lang="ru-RU" sz="1800"/>
              <a:t>: 20% данных (2023 - 2025 гг.) - 364 и 319 торговых дней соответственно.</a:t>
            </a:r>
            <a:endParaRPr sz="1800"/>
          </a:p>
        </p:txBody>
      </p:sp>
      <p:sp>
        <p:nvSpPr>
          <p:cNvPr id="213" name="Google Shape;213;g3e13f270040_0_14"/>
          <p:cNvSpPr txBox="1"/>
          <p:nvPr>
            <p:ph idx="4" type="body"/>
          </p:nvPr>
        </p:nvSpPr>
        <p:spPr>
          <a:xfrm>
            <a:off x="6259892" y="548720"/>
            <a:ext cx="2070000" cy="4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e13f270040_0_32"/>
          <p:cNvSpPr txBox="1"/>
          <p:nvPr>
            <p:ph type="title"/>
          </p:nvPr>
        </p:nvSpPr>
        <p:spPr>
          <a:xfrm>
            <a:off x="585897" y="1447790"/>
            <a:ext cx="11058000" cy="77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Методы обнаружения структурных сдвигов I.</a:t>
            </a:r>
            <a:endParaRPr/>
          </a:p>
        </p:txBody>
      </p:sp>
      <p:sp>
        <p:nvSpPr>
          <p:cNvPr id="220" name="Google Shape;220;g3e13f270040_0_32"/>
          <p:cNvSpPr txBox="1"/>
          <p:nvPr>
            <p:ph idx="1" type="body"/>
          </p:nvPr>
        </p:nvSpPr>
        <p:spPr>
          <a:xfrm>
            <a:off x="1143689" y="540904"/>
            <a:ext cx="19017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g3e13f270040_0_32"/>
          <p:cNvSpPr txBox="1"/>
          <p:nvPr>
            <p:ph idx="2" type="body"/>
          </p:nvPr>
        </p:nvSpPr>
        <p:spPr>
          <a:xfrm>
            <a:off x="3459163" y="548720"/>
            <a:ext cx="2070000" cy="4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g3e13f270040_0_32"/>
          <p:cNvSpPr txBox="1"/>
          <p:nvPr>
            <p:ph idx="3" type="body"/>
          </p:nvPr>
        </p:nvSpPr>
        <p:spPr>
          <a:xfrm>
            <a:off x="515947" y="2313988"/>
            <a:ext cx="11058000" cy="3745200"/>
          </a:xfrm>
          <a:prstGeom prst="rect">
            <a:avLst/>
          </a:prstGeom>
        </p:spPr>
        <p:txBody>
          <a:bodyPr anchorCtr="0" anchor="t" bIns="45700" lIns="0" spcFirstLastPara="1" rIns="0" wrap="square" tIns="0">
            <a:noAutofit/>
          </a:bodyPr>
          <a:lstStyle/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ru-RU" sz="1800"/>
              <a:t>ICSS (Inclán-Tiao)</a:t>
            </a:r>
            <a:endParaRPr b="1" sz="1800"/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/>
              <a:t>Статистика для каждой точки k: </a:t>
            </a:r>
            <a:endParaRPr sz="1800"/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ru-RU" sz="1800"/>
              <a:t>KL (Kokoszka–Leipus)</a:t>
            </a:r>
            <a:endParaRPr b="1" sz="1800"/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/>
              <a:t>Статистика для каждой точки k: </a:t>
            </a:r>
            <a:endParaRPr b="1" sz="1800"/>
          </a:p>
        </p:txBody>
      </p:sp>
      <p:sp>
        <p:nvSpPr>
          <p:cNvPr id="223" name="Google Shape;223;g3e13f270040_0_32"/>
          <p:cNvSpPr txBox="1"/>
          <p:nvPr>
            <p:ph idx="4" type="body"/>
          </p:nvPr>
        </p:nvSpPr>
        <p:spPr>
          <a:xfrm>
            <a:off x="6259892" y="548720"/>
            <a:ext cx="2070000" cy="4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4" name="Google Shape;224;g3e13f270040_0_32" title="lagrida_latex_edito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950" y="3096907"/>
            <a:ext cx="3688390" cy="77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g3e13f270040_0_32" title="lagrida_latex_editor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5950" y="4746006"/>
            <a:ext cx="3688400" cy="747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e13f270040_0_45"/>
          <p:cNvSpPr txBox="1"/>
          <p:nvPr>
            <p:ph type="title"/>
          </p:nvPr>
        </p:nvSpPr>
        <p:spPr>
          <a:xfrm>
            <a:off x="585897" y="1447790"/>
            <a:ext cx="11058000" cy="77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Методы обнаружения структурных сдвигов </a:t>
            </a:r>
            <a:r>
              <a:rPr lang="ru-RU"/>
              <a:t>II</a:t>
            </a:r>
            <a:r>
              <a:rPr lang="ru-RU"/>
              <a:t>.</a:t>
            </a:r>
            <a:endParaRPr/>
          </a:p>
        </p:txBody>
      </p:sp>
      <p:sp>
        <p:nvSpPr>
          <p:cNvPr id="232" name="Google Shape;232;g3e13f270040_0_45"/>
          <p:cNvSpPr txBox="1"/>
          <p:nvPr>
            <p:ph idx="1" type="body"/>
          </p:nvPr>
        </p:nvSpPr>
        <p:spPr>
          <a:xfrm>
            <a:off x="1143689" y="540904"/>
            <a:ext cx="19017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3e13f270040_0_45"/>
          <p:cNvSpPr txBox="1"/>
          <p:nvPr>
            <p:ph idx="2" type="body"/>
          </p:nvPr>
        </p:nvSpPr>
        <p:spPr>
          <a:xfrm>
            <a:off x="3459163" y="548720"/>
            <a:ext cx="2070000" cy="4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3e13f270040_0_45"/>
          <p:cNvSpPr txBox="1"/>
          <p:nvPr>
            <p:ph idx="3" type="body"/>
          </p:nvPr>
        </p:nvSpPr>
        <p:spPr>
          <a:xfrm>
            <a:off x="515947" y="2313988"/>
            <a:ext cx="11058000" cy="3745200"/>
          </a:xfrm>
          <a:prstGeom prst="rect">
            <a:avLst/>
          </a:prstGeom>
        </p:spPr>
        <p:txBody>
          <a:bodyPr anchorCtr="0" anchor="t" bIns="45700" lIns="0" spcFirstLastPara="1" rIns="0" wrap="square" tIns="0">
            <a:noAutofit/>
          </a:bodyPr>
          <a:lstStyle/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 startAt="3"/>
            </a:pPr>
            <a:r>
              <a:rPr b="1" lang="ru-RU" sz="1800"/>
              <a:t>KS-ICSS</a:t>
            </a:r>
            <a:endParaRPr b="1" sz="1800"/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/>
              <a:t>Статистика для каждой точки k: </a:t>
            </a:r>
            <a:endParaRPr sz="1800"/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 startAt="3"/>
            </a:pPr>
            <a:r>
              <a:rPr b="1" lang="ru-RU" sz="1800"/>
              <a:t>Агрегация</a:t>
            </a:r>
            <a:endParaRPr b="1" sz="1800"/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/>
              <a:t>Все методы исходно дают десятки ложных сдвигов из‑за кластеризации волатильности; мы применяем кластеризацию К-means (k = 3) для выделения </a:t>
            </a:r>
            <a:r>
              <a:rPr lang="ru-RU" sz="1800"/>
              <a:t>трех</a:t>
            </a:r>
            <a:r>
              <a:rPr lang="ru-RU" sz="1800"/>
              <a:t> главных периодов.</a:t>
            </a:r>
            <a:endParaRPr b="1" sz="1800"/>
          </a:p>
        </p:txBody>
      </p:sp>
      <p:sp>
        <p:nvSpPr>
          <p:cNvPr id="235" name="Google Shape;235;g3e13f270040_0_45"/>
          <p:cNvSpPr txBox="1"/>
          <p:nvPr>
            <p:ph idx="4" type="body"/>
          </p:nvPr>
        </p:nvSpPr>
        <p:spPr>
          <a:xfrm>
            <a:off x="6259892" y="548720"/>
            <a:ext cx="2070000" cy="4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6" name="Google Shape;236;g3e13f270040_0_45" title="lagrida_latex_editor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5900" y="3187282"/>
            <a:ext cx="4175125" cy="4834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e13f270040_0_58"/>
          <p:cNvSpPr txBox="1"/>
          <p:nvPr>
            <p:ph idx="1" type="body"/>
          </p:nvPr>
        </p:nvSpPr>
        <p:spPr>
          <a:xfrm>
            <a:off x="1143689" y="540904"/>
            <a:ext cx="19017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g3e13f270040_0_58"/>
          <p:cNvSpPr txBox="1"/>
          <p:nvPr>
            <p:ph idx="2" type="body"/>
          </p:nvPr>
        </p:nvSpPr>
        <p:spPr>
          <a:xfrm>
            <a:off x="3459163" y="548720"/>
            <a:ext cx="2070000" cy="4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g3e13f270040_0_58"/>
          <p:cNvSpPr txBox="1"/>
          <p:nvPr>
            <p:ph type="title"/>
          </p:nvPr>
        </p:nvSpPr>
        <p:spPr>
          <a:xfrm>
            <a:off x="585897" y="1279690"/>
            <a:ext cx="11058000" cy="77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Схема гибридной модели</a:t>
            </a:r>
            <a:endParaRPr/>
          </a:p>
        </p:txBody>
      </p:sp>
      <p:sp>
        <p:nvSpPr>
          <p:cNvPr id="245" name="Google Shape;245;g3e13f270040_0_58"/>
          <p:cNvSpPr txBox="1"/>
          <p:nvPr>
            <p:ph idx="3" type="body"/>
          </p:nvPr>
        </p:nvSpPr>
        <p:spPr>
          <a:xfrm>
            <a:off x="585900" y="2379675"/>
            <a:ext cx="7364700" cy="3745200"/>
          </a:xfrm>
          <a:prstGeom prst="rect">
            <a:avLst/>
          </a:prstGeom>
        </p:spPr>
        <p:txBody>
          <a:bodyPr anchorCtr="0" anchor="t" bIns="45700" lIns="0" spcFirstLastPara="1" rIns="0" wrap="square" tIns="0">
            <a:noAutofit/>
          </a:bodyPr>
          <a:lstStyle/>
          <a:p>
            <a:pPr indent="-336550" lvl="0" marL="457200" rtl="0" algn="just">
              <a:spcBef>
                <a:spcPts val="1200"/>
              </a:spcBef>
              <a:spcAft>
                <a:spcPts val="0"/>
              </a:spcAft>
              <a:buSzPts val="1700"/>
              <a:buAutoNum type="arabicPeriod"/>
            </a:pPr>
            <a:r>
              <a:rPr lang="ru-RU" sz="1700"/>
              <a:t>Вход: логарифмические доходности индекса.</a:t>
            </a:r>
            <a:endParaRPr sz="1700"/>
          </a:p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ru-RU" sz="1700"/>
              <a:t>Обнаружение сдвигов (ICSS/KL/KS) → даты T₁, T₂, T₃.</a:t>
            </a:r>
            <a:endParaRPr sz="1700"/>
          </a:p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ru-RU" sz="1700"/>
              <a:t>GARCH-dummy - оценка модели с фиктивными переменными на эти даты, получение прогноза σ̂ ²{dummy}.</a:t>
            </a:r>
            <a:endParaRPr sz="1700"/>
          </a:p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ru-RU" sz="1700"/>
              <a:t>Вычисление ошибок e = фактическая волатильность - σ̂ ²{dummy}.</a:t>
            </a:r>
            <a:endParaRPr sz="1700"/>
          </a:p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ru-RU" sz="1700"/>
              <a:t>LSTM – обучение на ошибках, прогноз ошибки на следующий день ê{LSTM}.</a:t>
            </a:r>
            <a:endParaRPr sz="1700"/>
          </a:p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ru-RU" sz="1700"/>
              <a:t>Гибридный прогноз: σ̂ ²{hybrid} = σ̂ ²{dummy} + ê{LSTM}.</a:t>
            </a:r>
            <a:r>
              <a:rPr lang="ru-RU" sz="1700"/>
              <a:t> </a:t>
            </a:r>
            <a:endParaRPr sz="1700"/>
          </a:p>
        </p:txBody>
      </p:sp>
      <p:sp>
        <p:nvSpPr>
          <p:cNvPr id="246" name="Google Shape;246;g3e13f270040_0_58"/>
          <p:cNvSpPr txBox="1"/>
          <p:nvPr>
            <p:ph idx="4" type="body"/>
          </p:nvPr>
        </p:nvSpPr>
        <p:spPr>
          <a:xfrm>
            <a:off x="6259892" y="548720"/>
            <a:ext cx="2070000" cy="4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7" name="Google Shape;247;g3e13f270040_0_58" title="diagram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04150" y="1449400"/>
            <a:ext cx="3327225" cy="49609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e13f270040_0_70"/>
          <p:cNvSpPr txBox="1"/>
          <p:nvPr>
            <p:ph idx="1" type="body"/>
          </p:nvPr>
        </p:nvSpPr>
        <p:spPr>
          <a:xfrm>
            <a:off x="1143689" y="540904"/>
            <a:ext cx="19017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g3e13f270040_0_70"/>
          <p:cNvSpPr txBox="1"/>
          <p:nvPr>
            <p:ph idx="2" type="body"/>
          </p:nvPr>
        </p:nvSpPr>
        <p:spPr>
          <a:xfrm>
            <a:off x="3459163" y="548720"/>
            <a:ext cx="2070000" cy="4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g3e13f270040_0_70"/>
          <p:cNvSpPr txBox="1"/>
          <p:nvPr>
            <p:ph type="title"/>
          </p:nvPr>
        </p:nvSpPr>
        <p:spPr>
          <a:xfrm>
            <a:off x="585897" y="1447790"/>
            <a:ext cx="11058000" cy="77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Полученные даты структурных сдвигов</a:t>
            </a:r>
            <a:endParaRPr/>
          </a:p>
        </p:txBody>
      </p:sp>
      <p:sp>
        <p:nvSpPr>
          <p:cNvPr id="256" name="Google Shape;256;g3e13f270040_0_70"/>
          <p:cNvSpPr txBox="1"/>
          <p:nvPr>
            <p:ph idx="3" type="body"/>
          </p:nvPr>
        </p:nvSpPr>
        <p:spPr>
          <a:xfrm>
            <a:off x="585900" y="5010492"/>
            <a:ext cx="11058000" cy="1263300"/>
          </a:xfrm>
          <a:prstGeom prst="rect">
            <a:avLst/>
          </a:prstGeom>
        </p:spPr>
        <p:txBody>
          <a:bodyPr anchorCtr="0" anchor="t" bIns="4570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500"/>
              <a:t>Интерпретация: </a:t>
            </a:r>
            <a:endParaRPr b="1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/>
              <a:t>конец 2018 – начало 2019 (торговые войны, санкции); 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/>
              <a:t>с</a:t>
            </a:r>
            <a:r>
              <a:rPr lang="ru-RU" sz="1500"/>
              <a:t>ередина 2020 (пик пандемийной волатильности); 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/>
              <a:t>2022 (геополитика для РФ / ужесточение ФРС для США).</a:t>
            </a:r>
            <a:endParaRPr sz="1500"/>
          </a:p>
        </p:txBody>
      </p:sp>
      <p:sp>
        <p:nvSpPr>
          <p:cNvPr id="257" name="Google Shape;257;g3e13f270040_0_70"/>
          <p:cNvSpPr txBox="1"/>
          <p:nvPr>
            <p:ph idx="4" type="body"/>
          </p:nvPr>
        </p:nvSpPr>
        <p:spPr>
          <a:xfrm>
            <a:off x="6259892" y="548720"/>
            <a:ext cx="2070000" cy="4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58" name="Google Shape;258;g3e13f270040_0_70"/>
          <p:cNvGraphicFramePr/>
          <p:nvPr/>
        </p:nvGraphicFramePr>
        <p:xfrm>
          <a:off x="585900" y="19965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{9E336434-E499-460B-B266-F0CFA8544F62}</a:tableStyleId>
              </a:tblPr>
              <a:tblGrid>
                <a:gridCol w="1601225"/>
                <a:gridCol w="3908875"/>
                <a:gridCol w="4776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/>
                        <a:t>Метод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/>
                        <a:t>S&amp;P500 даты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/>
                        <a:t>IMOEX даты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/>
                        <a:t>ICSS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2018-11-29</a:t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2020-07-14</a:t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2022-06-13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2018-08-29</a:t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2020-06-08</a:t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2022-05-05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/>
                        <a:t>KL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2019-01-04</a:t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2020-10-08</a:t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2022-09-26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2018-11-30</a:t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2020-10-14</a:t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2022-04-26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6169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/>
                        <a:t>KS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2018-11-08</a:t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2020-07-23</a:t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2022-07-07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2018-11-21</a:t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2020-07-10</a:t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2022-04-18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e13f270040_0_82"/>
          <p:cNvSpPr txBox="1"/>
          <p:nvPr>
            <p:ph idx="1" type="body"/>
          </p:nvPr>
        </p:nvSpPr>
        <p:spPr>
          <a:xfrm>
            <a:off x="1143689" y="540904"/>
            <a:ext cx="19017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g3e13f270040_0_82"/>
          <p:cNvSpPr txBox="1"/>
          <p:nvPr>
            <p:ph idx="2" type="body"/>
          </p:nvPr>
        </p:nvSpPr>
        <p:spPr>
          <a:xfrm>
            <a:off x="3459163" y="548720"/>
            <a:ext cx="2070000" cy="4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g3e13f270040_0_82"/>
          <p:cNvSpPr txBox="1"/>
          <p:nvPr>
            <p:ph type="title"/>
          </p:nvPr>
        </p:nvSpPr>
        <p:spPr>
          <a:xfrm>
            <a:off x="585897" y="1447790"/>
            <a:ext cx="11058000" cy="77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Численные результаты I. S&amp;P500</a:t>
            </a:r>
            <a:endParaRPr/>
          </a:p>
        </p:txBody>
      </p:sp>
      <p:sp>
        <p:nvSpPr>
          <p:cNvPr id="267" name="Google Shape;267;g3e13f270040_0_82"/>
          <p:cNvSpPr txBox="1"/>
          <p:nvPr>
            <p:ph idx="3" type="body"/>
          </p:nvPr>
        </p:nvSpPr>
        <p:spPr>
          <a:xfrm>
            <a:off x="585900" y="5347865"/>
            <a:ext cx="11058000" cy="777000"/>
          </a:xfrm>
          <a:prstGeom prst="rect">
            <a:avLst/>
          </a:prstGeom>
        </p:spPr>
        <p:txBody>
          <a:bodyPr anchorCtr="0" anchor="t" bIns="45700" lIns="0" spcFirstLastPara="1" rIns="0" wrap="square" tIns="0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-RU" sz="1400"/>
              <a:t>Вывод:</a:t>
            </a:r>
            <a:endParaRPr b="1"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-RU" sz="1400"/>
              <a:t>учет</a:t>
            </a:r>
            <a:r>
              <a:rPr lang="ru-RU" sz="1400"/>
              <a:t> сдвигов резко снижает ошибку; LSTM дает лишь небольшое улучшение.</a:t>
            </a:r>
            <a:endParaRPr sz="1400"/>
          </a:p>
        </p:txBody>
      </p:sp>
      <p:sp>
        <p:nvSpPr>
          <p:cNvPr id="268" name="Google Shape;268;g3e13f270040_0_82"/>
          <p:cNvSpPr txBox="1"/>
          <p:nvPr>
            <p:ph idx="4" type="body"/>
          </p:nvPr>
        </p:nvSpPr>
        <p:spPr>
          <a:xfrm>
            <a:off x="6259892" y="548720"/>
            <a:ext cx="2070000" cy="4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69" name="Google Shape;269;g3e13f270040_0_82"/>
          <p:cNvGraphicFramePr/>
          <p:nvPr/>
        </p:nvGraphicFramePr>
        <p:xfrm>
          <a:off x="585900" y="20206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{9E336434-E499-460B-B266-F0CFA8544F62}</a:tableStyleId>
              </a:tblPr>
              <a:tblGrid>
                <a:gridCol w="2571750"/>
                <a:gridCol w="2571750"/>
                <a:gridCol w="2571750"/>
                <a:gridCol w="2571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>
                          <a:solidFill>
                            <a:srgbClr val="151517"/>
                          </a:solidFill>
                        </a:rPr>
                        <a:t>Модель</a:t>
                      </a:r>
                      <a:endParaRPr b="1">
                        <a:solidFill>
                          <a:srgbClr val="151517"/>
                        </a:solidFill>
                      </a:endParaRPr>
                    </a:p>
                  </a:txBody>
                  <a:tcPr marT="95250" marB="95250" marR="152400" marL="91425" anchor="ctr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>
                          <a:solidFill>
                            <a:srgbClr val="151517"/>
                          </a:solidFill>
                        </a:rPr>
                        <a:t>RMSE</a:t>
                      </a:r>
                      <a:endParaRPr b="1">
                        <a:solidFill>
                          <a:srgbClr val="151517"/>
                        </a:solidFill>
                      </a:endParaRPr>
                    </a:p>
                  </a:txBody>
                  <a:tcPr marT="95250" marB="95250" marR="152400" marL="152400" anchor="ctr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>
                          <a:solidFill>
                            <a:srgbClr val="151517"/>
                          </a:solidFill>
                        </a:rPr>
                        <a:t>MAE</a:t>
                      </a:r>
                      <a:endParaRPr b="1">
                        <a:solidFill>
                          <a:srgbClr val="151517"/>
                        </a:solidFill>
                      </a:endParaRPr>
                    </a:p>
                  </a:txBody>
                  <a:tcPr marT="95250" marB="95250" marR="152400" marL="152400" anchor="ctr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>
                          <a:solidFill>
                            <a:srgbClr val="151517"/>
                          </a:solidFill>
                        </a:rPr>
                        <a:t>Снижение RMSE относительно базовой GARCH</a:t>
                      </a:r>
                      <a:endParaRPr b="1">
                        <a:solidFill>
                          <a:srgbClr val="151517"/>
                        </a:solidFill>
                      </a:endParaRPr>
                    </a:p>
                  </a:txBody>
                  <a:tcPr marT="95250" marB="95250" marR="152400" marL="152400" anchor="ctr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>
                          <a:solidFill>
                            <a:srgbClr val="151517"/>
                          </a:solidFill>
                        </a:rPr>
                        <a:t>Базовая GARCH</a:t>
                      </a:r>
                      <a:endParaRPr b="1">
                        <a:solidFill>
                          <a:srgbClr val="151517"/>
                        </a:solidFill>
                      </a:endParaRPr>
                    </a:p>
                  </a:txBody>
                  <a:tcPr marT="95250" marB="95250" marR="152400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51517"/>
                          </a:solidFill>
                        </a:rPr>
                        <a:t>1,791</a:t>
                      </a:r>
                      <a:endParaRPr>
                        <a:solidFill>
                          <a:srgbClr val="151517"/>
                        </a:solidFill>
                      </a:endParaRPr>
                    </a:p>
                  </a:txBody>
                  <a:tcPr marT="95250" marB="95250" marR="152400" marL="1524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51517"/>
                          </a:solidFill>
                        </a:rPr>
                        <a:t>1,637</a:t>
                      </a:r>
                      <a:endParaRPr>
                        <a:solidFill>
                          <a:srgbClr val="151517"/>
                        </a:solidFill>
                      </a:endParaRPr>
                    </a:p>
                  </a:txBody>
                  <a:tcPr marT="95250" marB="95250" marR="152400" marL="1524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51517"/>
                          </a:solidFill>
                        </a:rPr>
                        <a:t>–</a:t>
                      </a:r>
                      <a:endParaRPr>
                        <a:solidFill>
                          <a:srgbClr val="151517"/>
                        </a:solidFill>
                      </a:endParaRPr>
                    </a:p>
                  </a:txBody>
                  <a:tcPr marT="95250" marB="95250" marR="91425" marL="1524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>
                          <a:solidFill>
                            <a:srgbClr val="151517"/>
                          </a:solidFill>
                        </a:rPr>
                        <a:t>GARCH-dummy (лучший метод - KL)</a:t>
                      </a:r>
                      <a:endParaRPr b="1">
                        <a:solidFill>
                          <a:srgbClr val="151517"/>
                        </a:solidFill>
                      </a:endParaRPr>
                    </a:p>
                  </a:txBody>
                  <a:tcPr marT="95250" marB="95250" marR="152400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51517"/>
                          </a:solidFill>
                        </a:rPr>
                        <a:t>1,221</a:t>
                      </a:r>
                      <a:endParaRPr>
                        <a:solidFill>
                          <a:srgbClr val="151517"/>
                        </a:solidFill>
                      </a:endParaRPr>
                    </a:p>
                  </a:txBody>
                  <a:tcPr marT="95250" marB="95250" marR="152400" marL="1524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51517"/>
                          </a:solidFill>
                        </a:rPr>
                        <a:t>0,790</a:t>
                      </a:r>
                      <a:endParaRPr>
                        <a:solidFill>
                          <a:srgbClr val="151517"/>
                        </a:solidFill>
                      </a:endParaRPr>
                    </a:p>
                  </a:txBody>
                  <a:tcPr marT="95250" marB="95250" marR="152400" marL="1524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51517"/>
                          </a:solidFill>
                        </a:rPr>
                        <a:t>32%</a:t>
                      </a:r>
                      <a:endParaRPr>
                        <a:solidFill>
                          <a:srgbClr val="151517"/>
                        </a:solidFill>
                      </a:endParaRPr>
                    </a:p>
                  </a:txBody>
                  <a:tcPr marT="95250" marB="95250" marR="91425" marL="1524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>
                          <a:solidFill>
                            <a:srgbClr val="151517"/>
                          </a:solidFill>
                        </a:rPr>
                        <a:t>Гибрид (GARCH-dummy + LSTM)</a:t>
                      </a:r>
                      <a:endParaRPr b="1">
                        <a:solidFill>
                          <a:srgbClr val="151517"/>
                        </a:solidFill>
                      </a:endParaRPr>
                    </a:p>
                  </a:txBody>
                  <a:tcPr marT="95250" marB="95250" marR="152400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51517"/>
                          </a:solidFill>
                        </a:rPr>
                        <a:t>1,215</a:t>
                      </a:r>
                      <a:endParaRPr>
                        <a:solidFill>
                          <a:srgbClr val="151517"/>
                        </a:solidFill>
                      </a:endParaRPr>
                    </a:p>
                  </a:txBody>
                  <a:tcPr marT="95250" marB="95250" marR="152400" marL="1524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51517"/>
                          </a:solidFill>
                        </a:rPr>
                        <a:t>0,702</a:t>
                      </a:r>
                      <a:endParaRPr>
                        <a:solidFill>
                          <a:srgbClr val="151517"/>
                        </a:solidFill>
                      </a:endParaRPr>
                    </a:p>
                  </a:txBody>
                  <a:tcPr marT="95250" marB="95250" marR="152400" marL="1524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51517"/>
                          </a:solidFill>
                        </a:rPr>
                        <a:t>32,2% </a:t>
                      </a:r>
                      <a:endParaRPr>
                        <a:solidFill>
                          <a:srgbClr val="151517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51517"/>
                          </a:solidFill>
                        </a:rPr>
                        <a:t>(незначительное доп. улучшение)</a:t>
                      </a:r>
                      <a:endParaRPr>
                        <a:solidFill>
                          <a:srgbClr val="151517"/>
                        </a:solidFill>
                      </a:endParaRPr>
                    </a:p>
                  </a:txBody>
                  <a:tcPr marT="95250" marB="95250" marR="91425" marL="1524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e13f270040_0_94"/>
          <p:cNvSpPr txBox="1"/>
          <p:nvPr>
            <p:ph idx="1" type="body"/>
          </p:nvPr>
        </p:nvSpPr>
        <p:spPr>
          <a:xfrm>
            <a:off x="1143689" y="540904"/>
            <a:ext cx="19017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g3e13f270040_0_94"/>
          <p:cNvSpPr txBox="1"/>
          <p:nvPr>
            <p:ph idx="2" type="body"/>
          </p:nvPr>
        </p:nvSpPr>
        <p:spPr>
          <a:xfrm>
            <a:off x="3459163" y="548720"/>
            <a:ext cx="2070000" cy="4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g3e13f270040_0_94"/>
          <p:cNvSpPr txBox="1"/>
          <p:nvPr>
            <p:ph type="title"/>
          </p:nvPr>
        </p:nvSpPr>
        <p:spPr>
          <a:xfrm>
            <a:off x="585897" y="1447790"/>
            <a:ext cx="11058000" cy="77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Численные результаты II. </a:t>
            </a:r>
            <a:r>
              <a:rPr lang="ru-RU"/>
              <a:t>IMOEX</a:t>
            </a:r>
            <a:endParaRPr/>
          </a:p>
        </p:txBody>
      </p:sp>
      <p:sp>
        <p:nvSpPr>
          <p:cNvPr id="278" name="Google Shape;278;g3e13f270040_0_94"/>
          <p:cNvSpPr txBox="1"/>
          <p:nvPr>
            <p:ph idx="3" type="body"/>
          </p:nvPr>
        </p:nvSpPr>
        <p:spPr>
          <a:xfrm>
            <a:off x="585900" y="5347865"/>
            <a:ext cx="11058000" cy="777000"/>
          </a:xfrm>
          <a:prstGeom prst="rect">
            <a:avLst/>
          </a:prstGeom>
        </p:spPr>
        <p:txBody>
          <a:bodyPr anchorCtr="0" anchor="t" bIns="45700" lIns="0" spcFirstLastPara="1" rIns="0" wrap="square" tIns="0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-RU" sz="1400"/>
              <a:t>Вывод:</a:t>
            </a:r>
            <a:endParaRPr b="1"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-RU" sz="1400"/>
              <a:t>на развивающемся рынке выигрыш от GARCH-dummy колоссальный; LSTM с методом KL дополнительно снижает RMSE</a:t>
            </a:r>
            <a:endParaRPr sz="1400"/>
          </a:p>
        </p:txBody>
      </p:sp>
      <p:sp>
        <p:nvSpPr>
          <p:cNvPr id="279" name="Google Shape;279;g3e13f270040_0_94"/>
          <p:cNvSpPr txBox="1"/>
          <p:nvPr>
            <p:ph idx="4" type="body"/>
          </p:nvPr>
        </p:nvSpPr>
        <p:spPr>
          <a:xfrm>
            <a:off x="6259892" y="548720"/>
            <a:ext cx="2070000" cy="4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80" name="Google Shape;280;g3e13f270040_0_94"/>
          <p:cNvGraphicFramePr/>
          <p:nvPr/>
        </p:nvGraphicFramePr>
        <p:xfrm>
          <a:off x="585900" y="2194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{9E336434-E499-460B-B266-F0CFA8544F62}</a:tableStyleId>
              </a:tblPr>
              <a:tblGrid>
                <a:gridCol w="2571750"/>
                <a:gridCol w="2571750"/>
                <a:gridCol w="2571750"/>
                <a:gridCol w="2571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>
                          <a:solidFill>
                            <a:srgbClr val="151517"/>
                          </a:solidFill>
                        </a:rPr>
                        <a:t>Модель</a:t>
                      </a:r>
                      <a:endParaRPr b="1">
                        <a:solidFill>
                          <a:srgbClr val="151517"/>
                        </a:solidFill>
                      </a:endParaRPr>
                    </a:p>
                  </a:txBody>
                  <a:tcPr marT="95250" marB="95250" marR="152400" marL="91425" anchor="ctr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>
                          <a:solidFill>
                            <a:srgbClr val="151517"/>
                          </a:solidFill>
                        </a:rPr>
                        <a:t>RMSE</a:t>
                      </a:r>
                      <a:endParaRPr b="1">
                        <a:solidFill>
                          <a:srgbClr val="151517"/>
                        </a:solidFill>
                      </a:endParaRPr>
                    </a:p>
                  </a:txBody>
                  <a:tcPr marT="95250" marB="95250" marR="152400" marL="152400" anchor="ctr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>
                          <a:solidFill>
                            <a:srgbClr val="151517"/>
                          </a:solidFill>
                        </a:rPr>
                        <a:t>MAE</a:t>
                      </a:r>
                      <a:endParaRPr b="1">
                        <a:solidFill>
                          <a:srgbClr val="151517"/>
                        </a:solidFill>
                      </a:endParaRPr>
                    </a:p>
                  </a:txBody>
                  <a:tcPr marT="95250" marB="95250" marR="152400" marL="152400" anchor="ctr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>
                          <a:solidFill>
                            <a:srgbClr val="151517"/>
                          </a:solidFill>
                        </a:rPr>
                        <a:t>Снижение RMSE относительно базовой GARCH</a:t>
                      </a:r>
                      <a:endParaRPr b="1">
                        <a:solidFill>
                          <a:srgbClr val="151517"/>
                        </a:solidFill>
                      </a:endParaRPr>
                    </a:p>
                  </a:txBody>
                  <a:tcPr marT="95250" marB="95250" marR="152400" marL="152400" anchor="ctr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>
                          <a:solidFill>
                            <a:srgbClr val="151517"/>
                          </a:solidFill>
                        </a:rPr>
                        <a:t>Базовая GARCH</a:t>
                      </a:r>
                      <a:endParaRPr b="1">
                        <a:solidFill>
                          <a:srgbClr val="151517"/>
                        </a:solidFill>
                      </a:endParaRPr>
                    </a:p>
                  </a:txBody>
                  <a:tcPr marT="95250" marB="95250" marR="152400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51517"/>
                          </a:solidFill>
                        </a:rPr>
                        <a:t>8,300</a:t>
                      </a:r>
                      <a:endParaRPr>
                        <a:solidFill>
                          <a:srgbClr val="151517"/>
                        </a:solidFill>
                      </a:endParaRPr>
                    </a:p>
                  </a:txBody>
                  <a:tcPr marT="95250" marB="95250" marR="152400" marL="1524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51517"/>
                          </a:solidFill>
                        </a:rPr>
                        <a:t>7,326</a:t>
                      </a:r>
                      <a:endParaRPr>
                        <a:solidFill>
                          <a:srgbClr val="151517"/>
                        </a:solidFill>
                      </a:endParaRPr>
                    </a:p>
                  </a:txBody>
                  <a:tcPr marT="95250" marB="95250" marR="152400" marL="1524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51517"/>
                          </a:solidFill>
                        </a:rPr>
                        <a:t>–</a:t>
                      </a:r>
                      <a:endParaRPr>
                        <a:solidFill>
                          <a:srgbClr val="151517"/>
                        </a:solidFill>
                      </a:endParaRPr>
                    </a:p>
                  </a:txBody>
                  <a:tcPr marT="95250" marB="95250" marR="91425" marL="1524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>
                          <a:solidFill>
                            <a:srgbClr val="151517"/>
                          </a:solidFill>
                        </a:rPr>
                        <a:t>GARCH-dummy (любой метод)</a:t>
                      </a:r>
                      <a:endParaRPr b="1">
                        <a:solidFill>
                          <a:srgbClr val="151517"/>
                        </a:solidFill>
                      </a:endParaRPr>
                    </a:p>
                  </a:txBody>
                  <a:tcPr marT="95250" marB="95250" marR="152400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51517"/>
                          </a:solidFill>
                        </a:rPr>
                        <a:t>≈1,130</a:t>
                      </a:r>
                      <a:endParaRPr>
                        <a:solidFill>
                          <a:srgbClr val="151517"/>
                        </a:solidFill>
                      </a:endParaRPr>
                    </a:p>
                  </a:txBody>
                  <a:tcPr marT="95250" marB="95250" marR="152400" marL="1524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51517"/>
                          </a:solidFill>
                        </a:rPr>
                        <a:t>≈0,786</a:t>
                      </a:r>
                      <a:endParaRPr>
                        <a:solidFill>
                          <a:srgbClr val="151517"/>
                        </a:solidFill>
                      </a:endParaRPr>
                    </a:p>
                  </a:txBody>
                  <a:tcPr marT="95250" marB="95250" marR="152400" marL="1524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51517"/>
                          </a:solidFill>
                        </a:rPr>
                        <a:t>86%</a:t>
                      </a:r>
                      <a:endParaRPr>
                        <a:solidFill>
                          <a:srgbClr val="151517"/>
                        </a:solidFill>
                      </a:endParaRPr>
                    </a:p>
                  </a:txBody>
                  <a:tcPr marT="95250" marB="95250" marR="91425" marL="1524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>
                          <a:solidFill>
                            <a:srgbClr val="151517"/>
                          </a:solidFill>
                        </a:rPr>
                        <a:t>Гибрид (лучший – KL+LSTM)</a:t>
                      </a:r>
                      <a:endParaRPr b="1">
                        <a:solidFill>
                          <a:srgbClr val="151517"/>
                        </a:solidFill>
                      </a:endParaRPr>
                    </a:p>
                  </a:txBody>
                  <a:tcPr marT="95250" marB="95250" marR="152400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51517"/>
                          </a:solidFill>
                        </a:rPr>
                        <a:t>1,097</a:t>
                      </a:r>
                      <a:endParaRPr>
                        <a:solidFill>
                          <a:srgbClr val="151517"/>
                        </a:solidFill>
                      </a:endParaRPr>
                    </a:p>
                  </a:txBody>
                  <a:tcPr marT="95250" marB="95250" marR="152400" marL="1524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51517"/>
                          </a:solidFill>
                        </a:rPr>
                        <a:t>0,774</a:t>
                      </a:r>
                      <a:endParaRPr>
                        <a:solidFill>
                          <a:srgbClr val="151517"/>
                        </a:solidFill>
                      </a:endParaRPr>
                    </a:p>
                  </a:txBody>
                  <a:tcPr marT="95250" marB="95250" marR="152400" marL="1524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rgbClr val="151517"/>
                          </a:solidFill>
                        </a:rPr>
                        <a:t>86,8%</a:t>
                      </a:r>
                      <a:endParaRPr>
                        <a:solidFill>
                          <a:srgbClr val="151517"/>
                        </a:solidFill>
                      </a:endParaRPr>
                    </a:p>
                  </a:txBody>
                  <a:tcPr marT="95250" marB="95250" marR="91425" marL="1524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e13f270040_0_105"/>
          <p:cNvSpPr txBox="1"/>
          <p:nvPr>
            <p:ph idx="1" type="body"/>
          </p:nvPr>
        </p:nvSpPr>
        <p:spPr>
          <a:xfrm>
            <a:off x="1143689" y="540904"/>
            <a:ext cx="19017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g3e13f270040_0_105"/>
          <p:cNvSpPr txBox="1"/>
          <p:nvPr>
            <p:ph idx="2" type="body"/>
          </p:nvPr>
        </p:nvSpPr>
        <p:spPr>
          <a:xfrm>
            <a:off x="3459163" y="548720"/>
            <a:ext cx="2070000" cy="4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g3e13f270040_0_105"/>
          <p:cNvSpPr txBox="1"/>
          <p:nvPr>
            <p:ph type="title"/>
          </p:nvPr>
        </p:nvSpPr>
        <p:spPr>
          <a:xfrm>
            <a:off x="585897" y="1447790"/>
            <a:ext cx="11058000" cy="77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Сравнение методов обнаружения структурных сдвигов</a:t>
            </a:r>
            <a:endParaRPr/>
          </a:p>
        </p:txBody>
      </p:sp>
      <p:sp>
        <p:nvSpPr>
          <p:cNvPr id="289" name="Google Shape;289;g3e13f270040_0_105"/>
          <p:cNvSpPr txBox="1"/>
          <p:nvPr>
            <p:ph idx="3" type="body"/>
          </p:nvPr>
        </p:nvSpPr>
        <p:spPr>
          <a:xfrm>
            <a:off x="567000" y="5563405"/>
            <a:ext cx="11058000" cy="1039800"/>
          </a:xfrm>
          <a:prstGeom prst="rect">
            <a:avLst/>
          </a:prstGeom>
        </p:spPr>
        <p:txBody>
          <a:bodyPr anchorCtr="0" anchor="t" bIns="4570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-RU" sz="1400"/>
              <a:t>Выводы:</a:t>
            </a:r>
            <a:endParaRPr b="1"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/>
              <a:t>Для США → любой метод, лучше ICSS (быстрый).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/>
              <a:t>Для России → KL + LSTM (наименьшая ошибка).</a:t>
            </a:r>
            <a:endParaRPr sz="1400"/>
          </a:p>
        </p:txBody>
      </p:sp>
      <p:sp>
        <p:nvSpPr>
          <p:cNvPr id="290" name="Google Shape;290;g3e13f270040_0_105"/>
          <p:cNvSpPr txBox="1"/>
          <p:nvPr>
            <p:ph idx="4" type="body"/>
          </p:nvPr>
        </p:nvSpPr>
        <p:spPr>
          <a:xfrm>
            <a:off x="6259892" y="548720"/>
            <a:ext cx="2070000" cy="4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91" name="Google Shape;291;g3e13f270040_0_105"/>
          <p:cNvGraphicFramePr/>
          <p:nvPr/>
        </p:nvGraphicFramePr>
        <p:xfrm>
          <a:off x="585900" y="222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{9E336434-E499-460B-B266-F0CFA8544F62}</a:tableStyleId>
              </a:tblPr>
              <a:tblGrid>
                <a:gridCol w="1575475"/>
                <a:gridCol w="3179900"/>
                <a:gridCol w="2793025"/>
                <a:gridCol w="3140250"/>
              </a:tblGrid>
              <a:tr h="5217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500">
                          <a:solidFill>
                            <a:srgbClr val="151517"/>
                          </a:solidFill>
                        </a:rPr>
                        <a:t>Метод</a:t>
                      </a:r>
                      <a:endParaRPr b="1" sz="1500">
                        <a:solidFill>
                          <a:srgbClr val="151517"/>
                        </a:solidFill>
                      </a:endParaRPr>
                    </a:p>
                  </a:txBody>
                  <a:tcPr marT="95250" marB="95250" marR="152400" marL="91425" anchor="ctr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500">
                          <a:solidFill>
                            <a:srgbClr val="151517"/>
                          </a:solidFill>
                        </a:rPr>
                        <a:t>Плюсы</a:t>
                      </a:r>
                      <a:endParaRPr b="1" sz="1500">
                        <a:solidFill>
                          <a:srgbClr val="151517"/>
                        </a:solidFill>
                      </a:endParaRPr>
                    </a:p>
                  </a:txBody>
                  <a:tcPr marT="95250" marB="95250" marR="152400" marL="152400" anchor="ctr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500">
                          <a:solidFill>
                            <a:srgbClr val="151517"/>
                          </a:solidFill>
                        </a:rPr>
                        <a:t>Минусы</a:t>
                      </a:r>
                      <a:endParaRPr b="1" sz="1500">
                        <a:solidFill>
                          <a:srgbClr val="151517"/>
                        </a:solidFill>
                      </a:endParaRPr>
                    </a:p>
                  </a:txBody>
                  <a:tcPr marT="95250" marB="95250" marR="152400" marL="152400" anchor="ctr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500">
                          <a:solidFill>
                            <a:srgbClr val="151517"/>
                          </a:solidFill>
                        </a:rPr>
                        <a:t>Результат в работе</a:t>
                      </a:r>
                      <a:endParaRPr b="1" sz="1500">
                        <a:solidFill>
                          <a:srgbClr val="151517"/>
                        </a:solidFill>
                      </a:endParaRPr>
                    </a:p>
                  </a:txBody>
                  <a:tcPr marT="95250" marB="95250" marR="152400" marL="152400" anchor="ctr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730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500">
                          <a:solidFill>
                            <a:srgbClr val="151517"/>
                          </a:solidFill>
                        </a:rPr>
                        <a:t>ICSS</a:t>
                      </a:r>
                      <a:endParaRPr b="1" sz="1500">
                        <a:solidFill>
                          <a:srgbClr val="151517"/>
                        </a:solidFill>
                      </a:endParaRPr>
                    </a:p>
                  </a:txBody>
                  <a:tcPr marT="95250" marB="95250" marR="152400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500">
                          <a:solidFill>
                            <a:srgbClr val="151517"/>
                          </a:solidFill>
                        </a:rPr>
                        <a:t>Простой, быстрый</a:t>
                      </a:r>
                      <a:endParaRPr sz="1500">
                        <a:solidFill>
                          <a:srgbClr val="151517"/>
                        </a:solidFill>
                      </a:endParaRPr>
                    </a:p>
                  </a:txBody>
                  <a:tcPr marT="95250" marB="95250" marR="152400" marL="1524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500">
                          <a:solidFill>
                            <a:srgbClr val="151517"/>
                          </a:solidFill>
                        </a:rPr>
                        <a:t>Чувствителен к выбросам</a:t>
                      </a:r>
                      <a:endParaRPr sz="1500">
                        <a:solidFill>
                          <a:srgbClr val="151517"/>
                        </a:solidFill>
                      </a:endParaRPr>
                    </a:p>
                  </a:txBody>
                  <a:tcPr marT="95250" marB="95250" marR="152400" marL="1524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500">
                          <a:solidFill>
                            <a:srgbClr val="151517"/>
                          </a:solidFill>
                        </a:rPr>
                        <a:t>S&amp;P 500: RMSE=1,222</a:t>
                      </a:r>
                      <a:endParaRPr sz="1500">
                        <a:solidFill>
                          <a:srgbClr val="151517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500">
                          <a:solidFill>
                            <a:srgbClr val="151517"/>
                          </a:solidFill>
                        </a:rPr>
                        <a:t>IMOEX гибрид: ухудшение (1,546)</a:t>
                      </a:r>
                      <a:endParaRPr sz="1500">
                        <a:solidFill>
                          <a:srgbClr val="151517"/>
                        </a:solidFill>
                      </a:endParaRPr>
                    </a:p>
                  </a:txBody>
                  <a:tcPr marT="95250" marB="95250" marR="91425" marL="1524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974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500">
                          <a:solidFill>
                            <a:srgbClr val="151517"/>
                          </a:solidFill>
                        </a:rPr>
                        <a:t>KL</a:t>
                      </a:r>
                      <a:endParaRPr b="1" sz="1500">
                        <a:solidFill>
                          <a:srgbClr val="151517"/>
                        </a:solidFill>
                      </a:endParaRPr>
                    </a:p>
                  </a:txBody>
                  <a:tcPr marT="95250" marB="95250" marR="152400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500">
                          <a:solidFill>
                            <a:srgbClr val="151517"/>
                          </a:solidFill>
                        </a:rPr>
                        <a:t>Устойчив к выбросам</a:t>
                      </a:r>
                      <a:endParaRPr sz="1500">
                        <a:solidFill>
                          <a:srgbClr val="151517"/>
                        </a:solidFill>
                      </a:endParaRPr>
                    </a:p>
                  </a:txBody>
                  <a:tcPr marT="95250" marB="95250" marR="152400" marL="1524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500">
                          <a:solidFill>
                            <a:srgbClr val="151517"/>
                          </a:solidFill>
                        </a:rPr>
                        <a:t>Чуть медленнее ICSS</a:t>
                      </a:r>
                      <a:endParaRPr sz="1500">
                        <a:solidFill>
                          <a:srgbClr val="151517"/>
                        </a:solidFill>
                      </a:endParaRPr>
                    </a:p>
                  </a:txBody>
                  <a:tcPr marT="95250" marB="95250" marR="152400" marL="1524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500">
                          <a:solidFill>
                            <a:srgbClr val="151517"/>
                          </a:solidFill>
                        </a:rPr>
                        <a:t>S&amp;P 500: RMSE=1,221</a:t>
                      </a:r>
                      <a:endParaRPr sz="1500">
                        <a:solidFill>
                          <a:srgbClr val="151517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500">
                          <a:solidFill>
                            <a:srgbClr val="151517"/>
                          </a:solidFill>
                        </a:rPr>
                        <a:t>IMOEX гибрид: лучший (1,097)</a:t>
                      </a:r>
                      <a:endParaRPr sz="1500">
                        <a:solidFill>
                          <a:srgbClr val="151517"/>
                        </a:solidFill>
                      </a:endParaRPr>
                    </a:p>
                  </a:txBody>
                  <a:tcPr marT="95250" marB="95250" marR="91425" marL="1524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974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500">
                          <a:solidFill>
                            <a:srgbClr val="151517"/>
                          </a:solidFill>
                        </a:rPr>
                        <a:t>KS</a:t>
                      </a:r>
                      <a:endParaRPr b="1" sz="1500">
                        <a:solidFill>
                          <a:srgbClr val="151517"/>
                        </a:solidFill>
                      </a:endParaRPr>
                    </a:p>
                  </a:txBody>
                  <a:tcPr marT="95250" marB="95250" marR="152400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500">
                          <a:solidFill>
                            <a:srgbClr val="151517"/>
                          </a:solidFill>
                        </a:rPr>
                        <a:t>Мощный, не требует нормальности</a:t>
                      </a:r>
                      <a:endParaRPr sz="1500">
                        <a:solidFill>
                          <a:srgbClr val="151517"/>
                        </a:solidFill>
                      </a:endParaRPr>
                    </a:p>
                  </a:txBody>
                  <a:tcPr marT="95250" marB="95250" marR="152400" marL="1524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500">
                          <a:solidFill>
                            <a:srgbClr val="151517"/>
                          </a:solidFill>
                        </a:rPr>
                        <a:t>Самый медленный</a:t>
                      </a:r>
                      <a:endParaRPr sz="1500">
                        <a:solidFill>
                          <a:srgbClr val="151517"/>
                        </a:solidFill>
                      </a:endParaRPr>
                    </a:p>
                  </a:txBody>
                  <a:tcPr marT="95250" marB="95250" marR="152400" marL="1524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500">
                          <a:solidFill>
                            <a:srgbClr val="151517"/>
                          </a:solidFill>
                        </a:rPr>
                        <a:t>S&amp;P 500: RMSE=1,222</a:t>
                      </a:r>
                      <a:endParaRPr sz="1500">
                        <a:solidFill>
                          <a:srgbClr val="151517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500">
                          <a:solidFill>
                            <a:srgbClr val="151517"/>
                          </a:solidFill>
                        </a:rPr>
                        <a:t>IMOEX гибрид: средний (1,187)</a:t>
                      </a:r>
                      <a:endParaRPr sz="1500">
                        <a:solidFill>
                          <a:srgbClr val="151517"/>
                        </a:solidFill>
                      </a:endParaRPr>
                    </a:p>
                  </a:txBody>
                  <a:tcPr marT="95250" marB="95250" marR="91425" marL="1524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e13f270040_0_116"/>
          <p:cNvSpPr txBox="1"/>
          <p:nvPr>
            <p:ph idx="1" type="body"/>
          </p:nvPr>
        </p:nvSpPr>
        <p:spPr>
          <a:xfrm>
            <a:off x="1143689" y="540904"/>
            <a:ext cx="19017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g3e13f270040_0_116"/>
          <p:cNvSpPr txBox="1"/>
          <p:nvPr>
            <p:ph idx="2" type="body"/>
          </p:nvPr>
        </p:nvSpPr>
        <p:spPr>
          <a:xfrm>
            <a:off x="3459163" y="548720"/>
            <a:ext cx="2070000" cy="4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g3e13f270040_0_116"/>
          <p:cNvSpPr txBox="1"/>
          <p:nvPr>
            <p:ph type="title"/>
          </p:nvPr>
        </p:nvSpPr>
        <p:spPr>
          <a:xfrm>
            <a:off x="585897" y="1447790"/>
            <a:ext cx="11058000" cy="77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Выводы</a:t>
            </a:r>
            <a:endParaRPr/>
          </a:p>
        </p:txBody>
      </p:sp>
      <p:sp>
        <p:nvSpPr>
          <p:cNvPr id="300" name="Google Shape;300;g3e13f270040_0_116"/>
          <p:cNvSpPr txBox="1"/>
          <p:nvPr>
            <p:ph idx="3" type="body"/>
          </p:nvPr>
        </p:nvSpPr>
        <p:spPr>
          <a:xfrm>
            <a:off x="585897" y="2379663"/>
            <a:ext cx="11058000" cy="3745200"/>
          </a:xfrm>
          <a:prstGeom prst="rect">
            <a:avLst/>
          </a:prstGeom>
        </p:spPr>
        <p:txBody>
          <a:bodyPr anchorCtr="0" anchor="t" bIns="45700" lIns="0" spcFirstLastPara="1" rIns="0" wrap="square" tIns="0">
            <a:noAutofit/>
          </a:bodyPr>
          <a:lstStyle/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ru-RU" sz="1700"/>
              <a:t>Структурные сдвиги критически важно учитывать – иначе ошибка прогноза может быть в 5-7 раз выше.</a:t>
            </a:r>
            <a:endParaRPr sz="17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ru-RU" sz="1700"/>
              <a:t>GARCH-dummy (даже без LSTM) - простой и очень эффективный способ.</a:t>
            </a:r>
            <a:endParaRPr sz="17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ru-RU" sz="1700"/>
              <a:t>LSTM даёт дополнительное улучшение на спокойных рынках (S&amp;P 500), а на шумных - только при правильном выборе метода.</a:t>
            </a:r>
            <a:endParaRPr sz="1700"/>
          </a:p>
        </p:txBody>
      </p:sp>
      <p:sp>
        <p:nvSpPr>
          <p:cNvPr id="301" name="Google Shape;301;g3e13f270040_0_116"/>
          <p:cNvSpPr txBox="1"/>
          <p:nvPr>
            <p:ph idx="4" type="body"/>
          </p:nvPr>
        </p:nvSpPr>
        <p:spPr>
          <a:xfrm>
            <a:off x="6259892" y="548720"/>
            <a:ext cx="2070000" cy="4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e13f270040_0_125"/>
          <p:cNvSpPr txBox="1"/>
          <p:nvPr>
            <p:ph idx="1" type="body"/>
          </p:nvPr>
        </p:nvSpPr>
        <p:spPr>
          <a:xfrm>
            <a:off x="1143689" y="540904"/>
            <a:ext cx="19017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51517"/>
              </a:solidFill>
            </a:endParaRPr>
          </a:p>
        </p:txBody>
      </p:sp>
      <p:sp>
        <p:nvSpPr>
          <p:cNvPr id="308" name="Google Shape;308;g3e13f270040_0_125"/>
          <p:cNvSpPr txBox="1"/>
          <p:nvPr>
            <p:ph idx="2" type="body"/>
          </p:nvPr>
        </p:nvSpPr>
        <p:spPr>
          <a:xfrm>
            <a:off x="3459163" y="548720"/>
            <a:ext cx="2070000" cy="4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51517"/>
              </a:solidFill>
            </a:endParaRPr>
          </a:p>
        </p:txBody>
      </p:sp>
      <p:sp>
        <p:nvSpPr>
          <p:cNvPr id="309" name="Google Shape;309;g3e13f270040_0_125"/>
          <p:cNvSpPr txBox="1"/>
          <p:nvPr>
            <p:ph idx="3" type="body"/>
          </p:nvPr>
        </p:nvSpPr>
        <p:spPr>
          <a:xfrm>
            <a:off x="585900" y="1449400"/>
            <a:ext cx="11058000" cy="5127900"/>
          </a:xfrm>
          <a:prstGeom prst="rect">
            <a:avLst/>
          </a:prstGeom>
        </p:spPr>
        <p:txBody>
          <a:bodyPr anchorCtr="0" anchor="t" bIns="4570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51517"/>
              </a:buClr>
              <a:buSzPts val="1200"/>
              <a:buFont typeface="Arial"/>
              <a:buAutoNum type="arabicPeriod"/>
            </a:pPr>
            <a:r>
              <a:rPr lang="ru-RU" sz="1200">
                <a:solidFill>
                  <a:srgbClr val="151517"/>
                </a:solidFill>
              </a:rPr>
              <a:t>Bollerslev T. Generalized autoregressive conditional heteroskedasticity // Journal of Econometrics. 1986. Vol. 31. No. 3. P. 307–327. URL: </a:t>
            </a:r>
            <a:r>
              <a:rPr lang="ru-RU" sz="1200" u="sng">
                <a:solidFill>
                  <a:schemeClr val="hlink"/>
                </a:solidFill>
                <a:hlinkClick r:id="rId3"/>
              </a:rPr>
              <a:t>https://doi.org/10.1016/0304-4076(86)90063-1</a:t>
            </a:r>
            <a:endParaRPr sz="1200" u="sng">
              <a:solidFill>
                <a:srgbClr val="151517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1200"/>
              <a:buFont typeface="Arial"/>
              <a:buAutoNum type="arabicPeriod"/>
            </a:pPr>
            <a:r>
              <a:rPr lang="ru-RU" sz="1200">
                <a:solidFill>
                  <a:srgbClr val="151517"/>
                </a:solidFill>
              </a:rPr>
              <a:t>Inclán C., Tiao G. C. Use of cumulative sums of squares for retrospective detection of changes of variance // Journal of the American Statistical Association. 1994. Vol. 89. No. 427. P. 913–923. URL: </a:t>
            </a:r>
            <a:r>
              <a:rPr lang="ru-RU" sz="1200" u="sng">
                <a:solidFill>
                  <a:schemeClr val="hlink"/>
                </a:solidFill>
                <a:hlinkClick r:id="rId4"/>
              </a:rPr>
              <a:t>https://doi.org/10.1080/01621459.1994.10476824</a:t>
            </a:r>
            <a:endParaRPr sz="1200">
              <a:solidFill>
                <a:srgbClr val="151517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1200"/>
              <a:buFont typeface="Arial"/>
              <a:buAutoNum type="arabicPeriod"/>
            </a:pPr>
            <a:r>
              <a:rPr lang="ru-RU" sz="1200">
                <a:solidFill>
                  <a:srgbClr val="151517"/>
                </a:solidFill>
              </a:rPr>
              <a:t>Kokoszka P., Leipus R. Change‑point estimation in ARCH models // Bernoulli. 1998. Vol. 4. No. 4. P. 513–539. URL: </a:t>
            </a:r>
            <a:r>
              <a:rPr lang="ru-RU" sz="1200">
                <a:solidFill>
                  <a:srgbClr val="151517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https://doi.org/10.2307/3318666</a:t>
            </a:r>
            <a:endParaRPr sz="1200">
              <a:solidFill>
                <a:srgbClr val="151517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1200"/>
              <a:buFont typeface="Arial"/>
              <a:buAutoNum type="arabicPeriod"/>
            </a:pPr>
            <a:r>
              <a:rPr lang="ru-RU" sz="1200">
                <a:solidFill>
                  <a:srgbClr val="151517"/>
                </a:solidFill>
              </a:rPr>
              <a:t>Lamoureux C. G., Lastrapes W. D. Heteroskedasticity in stock return data: Volume versus GARCH effects // Journal of Finance. 1990. Vol. 45. No. 1. P. 221–229. URL: </a:t>
            </a:r>
            <a:r>
              <a:rPr lang="ru-RU" sz="1200" u="sng">
                <a:solidFill>
                  <a:schemeClr val="hlink"/>
                </a:solidFill>
                <a:hlinkClick r:id="rId6"/>
              </a:rPr>
              <a:t>https://doi.org/10.1111/j.1540-6261.1990.tb05086.x</a:t>
            </a:r>
            <a:endParaRPr sz="1200">
              <a:solidFill>
                <a:srgbClr val="151517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1200"/>
              <a:buFont typeface="Arial"/>
              <a:buAutoNum type="arabicPeriod"/>
            </a:pPr>
            <a:r>
              <a:rPr lang="ru-RU" sz="1200">
                <a:solidFill>
                  <a:srgbClr val="151517"/>
                </a:solidFill>
              </a:rPr>
              <a:t>Mensi W., Sensoy A., Vo X. V., Kang S. H. How COVID‑19 has affected stock market persistence? Evidence from the G7’s // Physica A: Statistical Mechanics and its Applications. 2021. Vol. 574. 125985. URL: </a:t>
            </a:r>
            <a:r>
              <a:rPr lang="ru-RU" sz="1200" u="sng">
                <a:solidFill>
                  <a:schemeClr val="hlink"/>
                </a:solidFill>
                <a:hlinkClick r:id="rId7"/>
              </a:rPr>
              <a:t>https://doi.org/10.1016/j.physa.2021.125985</a:t>
            </a:r>
            <a:endParaRPr sz="1200">
              <a:solidFill>
                <a:srgbClr val="151517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1200"/>
              <a:buFont typeface="Arial"/>
              <a:buAutoNum type="arabicPeriod"/>
            </a:pPr>
            <a:r>
              <a:rPr lang="ru-RU" sz="1200">
                <a:solidFill>
                  <a:srgbClr val="151517"/>
                </a:solidFill>
              </a:rPr>
              <a:t>Kristjanpoller W., Minutolo M. C. Forecasting volatility using a hybrid GARCH–LSTM approach // Expert Systems with Applications. 2016. Vol. 64. P. 125–135. URL: </a:t>
            </a:r>
            <a:r>
              <a:rPr lang="ru-RU" sz="1200" u="sng">
                <a:solidFill>
                  <a:schemeClr val="hlink"/>
                </a:solidFill>
                <a:hlinkClick r:id="rId8"/>
              </a:rPr>
              <a:t>https://doi.org/10.1016/j.eswa.2016.07.024</a:t>
            </a:r>
            <a:endParaRPr sz="1200">
              <a:solidFill>
                <a:srgbClr val="151517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1200"/>
              <a:buFont typeface="Arial"/>
              <a:buAutoNum type="arabicPeriod"/>
            </a:pPr>
            <a:r>
              <a:rPr lang="ru-RU" sz="1200">
                <a:solidFill>
                  <a:srgbClr val="151517"/>
                </a:solidFill>
              </a:rPr>
              <a:t>Hochreiter S., Schmidhuber J. Long short‑term memory // Neural Computation. 1997. Vol. 9. No. 8. P. 1735–1780. URL: </a:t>
            </a:r>
            <a:r>
              <a:rPr lang="ru-RU" sz="1200" u="sng">
                <a:solidFill>
                  <a:schemeClr val="hlink"/>
                </a:solidFill>
                <a:hlinkClick r:id="rId9"/>
              </a:rPr>
              <a:t>https://doi.org/10.1162/neco.1997.9.8.1735</a:t>
            </a:r>
            <a:endParaRPr sz="1200">
              <a:solidFill>
                <a:srgbClr val="151517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1200"/>
              <a:buFont typeface="Arial"/>
              <a:buAutoNum type="arabicPeriod"/>
            </a:pPr>
            <a:r>
              <a:rPr lang="ru-RU" sz="1200">
                <a:solidFill>
                  <a:srgbClr val="151517"/>
                </a:solidFill>
              </a:rPr>
              <a:t>Diebold F. X., Mariano R. S. Comparing predictive accuracy // Journal of Business &amp; Economic Statistics. 1995. Vol. 13. No. 3. P. 253–263. URL: </a:t>
            </a:r>
            <a:r>
              <a:rPr lang="ru-RU" sz="1200" u="sng">
                <a:solidFill>
                  <a:schemeClr val="hlink"/>
                </a:solidFill>
                <a:hlinkClick r:id="rId10"/>
              </a:rPr>
              <a:t>https://doi.org/10.1080/07350015.1995.10524599</a:t>
            </a:r>
            <a:endParaRPr sz="1200">
              <a:solidFill>
                <a:srgbClr val="151517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1200"/>
              <a:buFont typeface="Arial"/>
              <a:buAutoNum type="arabicPeriod"/>
            </a:pPr>
            <a:r>
              <a:rPr lang="ru-RU" sz="1200">
                <a:solidFill>
                  <a:srgbClr val="151517"/>
                </a:solidFill>
              </a:rPr>
              <a:t>Борзых Д. А., Языков А. А. Сравнение методов обнаружения структурных сдвигов в GARCH‑моделях на основе кумулятивных сумм и двухвыборочного теста Колмогорова–Смирнова // Прикладная эконометрика. 2023. Т. 69. С. 78–95. URL: </a:t>
            </a:r>
            <a:r>
              <a:rPr lang="ru-RU" sz="1200" u="sng">
                <a:solidFill>
                  <a:schemeClr val="hlink"/>
                </a:solidFill>
                <a:hlinkClick r:id="rId11"/>
              </a:rPr>
              <a:t>https://cyberleninka.ru/article/n/sravnenie-metodov-obnaruzheniya-strukturnyh-sdvigov-v-garch-modelyah-na-osnove-kumulyativnyh-summ-i-dvuhvyborochnogo-testa</a:t>
            </a:r>
            <a:endParaRPr sz="1200">
              <a:solidFill>
                <a:srgbClr val="151517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1200"/>
              <a:buFont typeface="Arial"/>
              <a:buAutoNum type="arabicPeriod"/>
            </a:pPr>
            <a:r>
              <a:rPr lang="ru-RU" sz="1200">
                <a:solidFill>
                  <a:srgbClr val="151517"/>
                </a:solidFill>
              </a:rPr>
              <a:t>Борзых Д. А., Языков А. А. KS‑метод обнаружения структурного сдвига в GARCH(1,1) моделях // Прикладная эконометрика. 2019. Т. 54. С. 90–104. URL: </a:t>
            </a:r>
            <a:r>
              <a:rPr lang="ru-RU" sz="1200" u="sng">
                <a:solidFill>
                  <a:schemeClr val="hlink"/>
                </a:solidFill>
                <a:hlinkClick r:id="rId12"/>
              </a:rPr>
              <a:t>https://cyberleninka.ru/article/n/ks-metod-obnaruzheniya-strukturnogo-sdviga-v-garch-1-1-modelyah</a:t>
            </a:r>
            <a:endParaRPr sz="1200">
              <a:solidFill>
                <a:srgbClr val="151517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1200"/>
              <a:buFont typeface="Arial"/>
              <a:buAutoNum type="arabicPeriod"/>
            </a:pPr>
            <a:r>
              <a:rPr lang="ru-RU" sz="1200">
                <a:solidFill>
                  <a:srgbClr val="151517"/>
                </a:solidFill>
              </a:rPr>
              <a:t>Борзых Д. А., Хасыков М. А. Процедура уточнения ICSS алгоритма обнаружения структурных сдвигов в GARCH‑моделях // Прикладная эконометрика. 2018. № 3. С. 126–139. </a:t>
            </a:r>
            <a:r>
              <a:rPr lang="ru-RU" sz="1200" u="sng">
                <a:solidFill>
                  <a:schemeClr val="hlink"/>
                </a:solidFill>
                <a:hlinkClick r:id="rId13"/>
              </a:rPr>
              <a:t>URL: </a:t>
            </a:r>
            <a:r>
              <a:rPr lang="ru-RU" sz="1200" u="sng">
                <a:solidFill>
                  <a:schemeClr val="hlink"/>
                </a:solidFill>
                <a:hlinkClick r:id="rId14"/>
              </a:rPr>
              <a:t>https://cyberleninka.ru/article/n/protsedura-utochneniya-icss-algoritma-obnaruzheniya-strukturnyh-sdvigov-v-garch-modelyah</a:t>
            </a:r>
            <a:endParaRPr sz="1200">
              <a:solidFill>
                <a:srgbClr val="151517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51517"/>
              </a:solidFill>
            </a:endParaRPr>
          </a:p>
        </p:txBody>
      </p:sp>
      <p:sp>
        <p:nvSpPr>
          <p:cNvPr id="310" name="Google Shape;310;g3e13f270040_0_125"/>
          <p:cNvSpPr txBox="1"/>
          <p:nvPr>
            <p:ph idx="4" type="body"/>
          </p:nvPr>
        </p:nvSpPr>
        <p:spPr>
          <a:xfrm>
            <a:off x="6259892" y="548720"/>
            <a:ext cx="2070000" cy="4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51517"/>
              </a:solidFill>
            </a:endParaRPr>
          </a:p>
        </p:txBody>
      </p:sp>
      <p:sp>
        <p:nvSpPr>
          <p:cNvPr id="311" name="Google Shape;311;g3e13f270040_0_125"/>
          <p:cNvSpPr txBox="1"/>
          <p:nvPr>
            <p:ph type="title"/>
          </p:nvPr>
        </p:nvSpPr>
        <p:spPr>
          <a:xfrm>
            <a:off x="585900" y="1060895"/>
            <a:ext cx="110580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Список литературы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e13f270040_0_136"/>
          <p:cNvSpPr txBox="1"/>
          <p:nvPr>
            <p:ph idx="1" type="body"/>
          </p:nvPr>
        </p:nvSpPr>
        <p:spPr>
          <a:xfrm>
            <a:off x="1143689" y="540904"/>
            <a:ext cx="1901700" cy="4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g3e13f270040_0_136"/>
          <p:cNvSpPr txBox="1"/>
          <p:nvPr>
            <p:ph idx="2" type="body"/>
          </p:nvPr>
        </p:nvSpPr>
        <p:spPr>
          <a:xfrm>
            <a:off x="3459163" y="548720"/>
            <a:ext cx="2070000" cy="4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g3e13f270040_0_136"/>
          <p:cNvSpPr txBox="1"/>
          <p:nvPr>
            <p:ph type="title"/>
          </p:nvPr>
        </p:nvSpPr>
        <p:spPr>
          <a:xfrm>
            <a:off x="585900" y="1447817"/>
            <a:ext cx="11058000" cy="210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400"/>
              <a:t>Спасибо за внимание!</a:t>
            </a:r>
            <a:endParaRPr sz="4400"/>
          </a:p>
        </p:txBody>
      </p:sp>
      <p:sp>
        <p:nvSpPr>
          <p:cNvPr id="320" name="Google Shape;320;g3e13f270040_0_136"/>
          <p:cNvSpPr txBox="1"/>
          <p:nvPr>
            <p:ph idx="4" type="body"/>
          </p:nvPr>
        </p:nvSpPr>
        <p:spPr>
          <a:xfrm>
            <a:off x="6259892" y="548720"/>
            <a:ext cx="2070000" cy="4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Пользовательские 1">
      <a:dk1>
        <a:srgbClr val="0F2C68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2021-11-11T08:52:47Z</dcterms:created>
  <dc:creator>Кутьков Юрий Юрьевич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0x0101002A9C74E6E830D74E9B0FDDB4017A5417</vt:lpwstr>
  </property>
</Properties>
</file>